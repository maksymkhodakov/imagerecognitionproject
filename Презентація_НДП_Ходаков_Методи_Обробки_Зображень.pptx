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549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162447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74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КИЇВСЬКИЙ НАЦІОНАЛЬНИЙ УНІВЕРСИТЕТ ІМЕНІ ТАРАСА ШЕВЧЕНКА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4937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Факультет комп'ютерних наук та кібернетики  •  Кафедра теоретичної кібернетики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обробки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92608" y="16916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зображень для систем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92608" y="23774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глибокого навчання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292608" y="3246120"/>
            <a:ext cx="5486400" cy="27432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34015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Науково-дослідницька практика  •  2-й семестр  •  ОНП «Штучний інтелект»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371246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Ходаков Максим Олегович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" y="43708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Київ, 2026</a:t>
            </a:r>
            <a:endParaRPr lang="en-US" sz="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40664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22860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ЗМІСТ ПРЕЗЕНТАЦІЇ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713232"/>
            <a:ext cx="850392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868680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68680"/>
            <a:ext cx="457200" cy="9144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247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10642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960120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мета дослідження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1929384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1929384"/>
            <a:ext cx="457200" cy="9144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" y="21854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1671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43584" y="2020824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1: Попередня обробка зображень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92608" y="2990088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2608" y="2990088"/>
            <a:ext cx="45720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3"/>
          <p:cNvSpPr/>
          <p:nvPr/>
        </p:nvSpPr>
        <p:spPr>
          <a:xfrm>
            <a:off x="292608" y="32461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22783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3584" y="3081528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2: Глибоке навчання — класифікація та сегментація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92608" y="4050792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92608" y="4050792"/>
            <a:ext cx="45720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17"/>
          <p:cNvSpPr/>
          <p:nvPr/>
        </p:nvSpPr>
        <p:spPr>
          <a:xfrm>
            <a:off x="292608" y="430682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28853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43584" y="4142232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Детекція об'єктів та пішоходів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709160" y="868680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09160" y="868680"/>
            <a:ext cx="4572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1"/>
          <p:cNvSpPr/>
          <p:nvPr/>
        </p:nvSpPr>
        <p:spPr>
          <a:xfrm>
            <a:off x="4709160" y="11247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224" y="1106424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60136" y="960120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Датасети, метрики та порівняльний аналіз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09160" y="1929384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09160" y="1929384"/>
            <a:ext cx="457200" cy="9144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25"/>
          <p:cNvSpPr/>
          <p:nvPr/>
        </p:nvSpPr>
        <p:spPr>
          <a:xfrm>
            <a:off x="4709160" y="21854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224" y="2167128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660136" y="2020824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— нова парадигма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709160" y="2990088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09160" y="2990088"/>
            <a:ext cx="4572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29"/>
          <p:cNvSpPr/>
          <p:nvPr/>
        </p:nvSpPr>
        <p:spPr>
          <a:xfrm>
            <a:off x="4709160" y="32461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1224" y="3227832"/>
            <a:ext cx="384048" cy="3840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660136" y="3081528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та перспективи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ця тема важлива сьогодні?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51760" cy="1389888"/>
          </a:xfrm>
          <a:prstGeom prst="rect">
            <a:avLst/>
          </a:prstGeom>
          <a:solidFill>
            <a:srgbClr val="2E8BFF">
              <a:alpha val="13000"/>
            </a:srgbClr>
          </a:solidFill>
          <a:ln w="254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984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відрив AlexNet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ImageNet 2012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43230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революції DL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651760" cy="1389888"/>
          </a:xfrm>
          <a:prstGeom prst="rect">
            <a:avLst/>
          </a:prstGeom>
          <a:solidFill>
            <a:srgbClr val="00D4AA">
              <a:alpha val="13000"/>
            </a:srgbClr>
          </a:solidFill>
          <a:ln w="254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2984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00400" y="19568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зростання точності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 2012–2024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243230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71.8% до 88.9%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261872"/>
            <a:ext cx="2651760" cy="1389888"/>
          </a:xfrm>
          <a:prstGeom prst="rect">
            <a:avLst/>
          </a:prstGeom>
          <a:solidFill>
            <a:srgbClr val="F59E0B">
              <a:alpha val="13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2984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35040" y="19568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приріст mAP від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якісного препроцесингу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243230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зміни архітектури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27980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ключових виклики: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4133088" cy="1810512"/>
          </a:xfrm>
          <a:prstGeom prst="rect">
            <a:avLst/>
          </a:prstGeom>
          <a:solidFill>
            <a:srgbClr val="0F1B35">
              <a:alpha val="94000"/>
            </a:srgbClr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0040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86384" y="316382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вхідних даних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" y="3474720"/>
            <a:ext cx="3913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Нейронні мережі чутливі до шуму, нерівномірного освітлення та геометричних спотворень — правильний препроцесинг критично впливає на точність моделей.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81728" y="3108960"/>
            <a:ext cx="4133088" cy="1810512"/>
          </a:xfrm>
          <a:prstGeom prst="rect">
            <a:avLst/>
          </a:prstGeom>
          <a:solidFill>
            <a:srgbClr val="0F1B35">
              <a:alpha val="94000"/>
            </a:srgbClr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3200400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02352" y="316382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архітектури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791456" y="3474720"/>
            <a:ext cx="3913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Стрімке зростання кількості підходів (CNN → Transformer → Foundation Models) ускладнює вибір оптимального рішення — порівняльний аналіз є необхідним.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Попередня обробка зображень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207008"/>
            <a:ext cx="2048256" cy="370332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207008"/>
            <a:ext cx="2048256" cy="457200"/>
          </a:xfrm>
          <a:prstGeom prst="rect">
            <a:avLst/>
          </a:prstGeom>
          <a:solidFill>
            <a:srgbClr val="2E8B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60704" y="125272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17190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84048" y="208483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Min-Max масштабування [0,1]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2478024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Z-score за статистиками датасету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287121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ImageNet stats: mean=[0.485,0.456,0.406]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264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CLAHE для нерівномірного освітлення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4048" y="36576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Gamma-корекція для різних умов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487168" y="1207008"/>
            <a:ext cx="2048256" cy="370332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87168" y="1207008"/>
            <a:ext cx="2048256" cy="4572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3255264" y="1252728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42032" y="17190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шуму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2578608" y="208483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Gaussian — рівномірний шум, O(k²)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578608" y="2478024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Bilateral [24] — зберігає краї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578608" y="287121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Median — імпульсний шум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578608" y="3264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Non-Local Means — найвища якість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578608" y="36576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DnCNN [25] — SOTA, PSNR 31.73 dB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681728" y="1207008"/>
            <a:ext cx="2048256" cy="370332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81728" y="1207008"/>
            <a:ext cx="2048256" cy="457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5449824" y="1252728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36592" y="17190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Морфологія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773168" y="208483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Ерозія — видаляє дрібні об'єкти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773168" y="2478024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Дилатація — заповнює прогалини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773168" y="287121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Відкриття = Ерозія + Дилатація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773168" y="3264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Закриття = Дилатація + Ерозія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773168" y="36576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Post-processing масок U-Net/DeepLab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876288" y="1207008"/>
            <a:ext cx="2048256" cy="3703320"/>
          </a:xfrm>
          <a:prstGeom prst="rect">
            <a:avLst/>
          </a:prstGeom>
          <a:solidFill>
            <a:srgbClr val="162447"/>
          </a:solidFill>
          <a:ln w="1270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876288" y="1207008"/>
            <a:ext cx="2048256" cy="45720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>
            <a:alphaModFix amt="95000"/>
          </a:blip>
          <a:stretch>
            <a:fillRect/>
          </a:stretch>
        </p:blipFill>
        <p:spPr>
          <a:xfrm>
            <a:off x="7644384" y="1252728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31152" y="17190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Аугментація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967728" y="208483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Геометрія: flip, rotate, elastic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6967728" y="2478024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Фотометрія: jitter, noise, blur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6967728" y="287121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Mixup / CutMix — змішування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967728" y="3264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Copy-Paste для пішоходів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6967728" y="36576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AutoAugment / RandAugment +5–12%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1 — ФІЛЬТРИ ШУМУ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методів фільтрації шуму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43584"/>
          <a:ext cx="8412480" cy="2633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шуму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Збереження країв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Складність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у DL-пайплайні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Гауссівський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Середнє ★★☆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Стандартний препроцесинг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[24]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Гауссівський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Відмінне 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Сегментація — основний вибір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Імпульсний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Добре 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O(k²logk)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Медичні знімки, MRI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Non-Local 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Гауссівський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Відмінне 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Автономна зйомка, якість &gt; швидкість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DnCNN [25]  ★ SOTA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Будь-який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Відмінне 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O(L·k²·C²)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для всіх задач 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913632"/>
            <a:ext cx="8412480" cy="987552"/>
          </a:xfrm>
          <a:prstGeom prst="rect">
            <a:avLst/>
          </a:prstGeom>
          <a:solidFill>
            <a:srgbClr val="0F1B35">
              <a:alpha val="95000"/>
            </a:srgbClr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0352" y="39684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DnCNN (Zhang et al., 2017) [25]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424281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Використовує residual learning: мережа прогнозує шум як залишок, передаючи "чистий" сигнал через identity shortcut. PSNR 31.73 dB на BSD68 при σ=25 — перевищує BM3D та WNNM. Blind denoising: одна модель для всіх рівнів шуму.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00D4AA">
              <a:alpha val="8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 — КЛАСИФІКАЦІЯ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Еволюція CNN-архітектур (1998–2023)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321040" cy="4572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0" y="1005840"/>
            <a:ext cx="1097280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-164592" y="10698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-164592" y="13258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Піонер CNN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-164592" y="18653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Засновник CNN-принципів: згортка, пулінг, backprop [1]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20824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499616" y="2907792"/>
            <a:ext cx="1261872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99616" y="297180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99616" y="322783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84.7%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99616" y="356616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499616" y="376732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ReLU, Dropout, GPU-навчання. −10.9% vs 2-го місця [2]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85032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63824" y="1005840"/>
            <a:ext cx="1261872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63824" y="10698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ResNet-152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63824" y="13258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163824" y="1664208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163824" y="18653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— навчання 152 шарів [4]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49240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28032" y="2907792"/>
            <a:ext cx="1261872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297180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EfficientB7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8032" y="322783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828032" y="356616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28032" y="376732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NAS (глибина × ширина × роздільність) [16]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013448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92240" y="1005840"/>
            <a:ext cx="1261872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10698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ViT-L/16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13258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92240" y="1664208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92240" y="18653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до патчів 16×16. Перемогу над CNN на JFT [11]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677656" y="2386584"/>
            <a:ext cx="201168" cy="201168"/>
          </a:xfrm>
          <a:prstGeom prst="ellipse">
            <a:avLst/>
          </a:prstGeom>
          <a:solidFill>
            <a:srgbClr val="00D4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83880" y="2898648"/>
            <a:ext cx="960120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156448" y="297180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V2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156448" y="322783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8156448" y="356616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156448" y="376732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Transformer-</a:t>
            </a:r>
            <a:r>
              <a:rPr lang="en-US" sz="750" dirty="0" err="1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принципи</a:t>
            </a: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FCMAE pretraining [22]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 — СЕГМЕНТАЦІЯ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Семантична сегментація: від FCN до SAM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43584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353312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3533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298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 (2015)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27248" y="1298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65.3%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59105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мережа без fully-connected шарів. Skip connections між різними масштабами.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11680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121408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1214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0665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27248" y="206654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SOTA медицина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3591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Симетрична encoder-decoder зі skip connections. SOTA при &lt; 40 прикладах [5].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779776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79776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206240" y="2889504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8895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2834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v3+ (2018)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27248" y="28346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82.1%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12724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convolution + ASPP. Мультимасштабний контекст без втрати роздільності [9].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47872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206240" y="3657600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657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36027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 (2021)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27248" y="360273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84.0%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89534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Transformer encoder + легкий MLP decoder. SOTA баланс якість/швидкість [12].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315968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315968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206240" y="4425696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44256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3708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/ SAM 2 (2023–24)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127248" y="437083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Zero-shot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663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Prompt-based: точка → маска. 11B масок (SA-1B). SAM 2 — відео ~44 FPS [13,23].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92240" y="1241298"/>
            <a:ext cx="12844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 на Cityscapes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63540" y="165506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FCN-8s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59727" y="1671245"/>
            <a:ext cx="1284466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5" name="Text 43"/>
          <p:cNvSpPr/>
          <p:nvPr/>
        </p:nvSpPr>
        <p:spPr>
          <a:xfrm>
            <a:off x="8381353" y="1651657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72684" y="221284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SegNet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953783" y="2231136"/>
            <a:ext cx="1369048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8" name="Text 46"/>
          <p:cNvSpPr/>
          <p:nvPr/>
        </p:nvSpPr>
        <p:spPr>
          <a:xfrm>
            <a:off x="8389620" y="22311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44421" y="27797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v3+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50647" y="2779776"/>
            <a:ext cx="1614926" cy="256032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51" name="Text 49"/>
          <p:cNvSpPr/>
          <p:nvPr/>
        </p:nvSpPr>
        <p:spPr>
          <a:xfrm>
            <a:off x="8572500" y="2770811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82.1%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63540" y="33649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HRNet-W48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67409" y="3337739"/>
            <a:ext cx="1605091" cy="2560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4" name="Text 52"/>
          <p:cNvSpPr/>
          <p:nvPr/>
        </p:nvSpPr>
        <p:spPr>
          <a:xfrm>
            <a:off x="8595360" y="3318017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32120" y="39044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SegFormer-B5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988780" y="3904488"/>
            <a:ext cx="1652300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7" name="Text 55"/>
          <p:cNvSpPr/>
          <p:nvPr/>
        </p:nvSpPr>
        <p:spPr>
          <a:xfrm>
            <a:off x="8587576" y="388476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509260" y="44154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Mask2Former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979690" y="4453129"/>
            <a:ext cx="1638530" cy="2560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0" name="Text 58"/>
          <p:cNvSpPr/>
          <p:nvPr/>
        </p:nvSpPr>
        <p:spPr>
          <a:xfrm>
            <a:off x="8641080" y="4451515"/>
            <a:ext cx="1601954" cy="285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 — ДЕТЕКЦІЯ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Детекція об'єктів: еволюція підходів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0" y="1170432"/>
            <a:ext cx="36576" cy="3794760"/>
          </a:xfrm>
          <a:prstGeom prst="rect">
            <a:avLst/>
          </a:prstGeom>
          <a:solidFill>
            <a:srgbClr val="2A4A8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Двоетапні детектори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Одноетапні детектори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41605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1581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[8]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156362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37.9%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1837944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~20 (T4)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19110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усунув Selective Search → перший practical end-to-end детектор. Стандарт 2015–2019.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79192"/>
            <a:ext cx="41605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2752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R-CNN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26080" y="273405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42.8%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3008376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~12 (T4)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30815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Ланцюжок детекторів з прогресивним IoU-порогом → суттєво точніша локалізація.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41605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1581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[7]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156362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53.9%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60920" y="1837944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13.6 (T4)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19110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 + decoupled head. Єдиний фреймворк: детекція, сегментація, pose.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679192"/>
            <a:ext cx="41605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2752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[20]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60920" y="273405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54.8%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60920" y="3008376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72.8 (T4)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30815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 + Transformer decoder. Без NMS — лідер швидкість + точність.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849624"/>
            <a:ext cx="4160520" cy="82296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64608" y="39227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[21]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60920" y="390448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56.7%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60920" y="417880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~10 (T4)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64608" y="4251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Open-vocabulary: текстовий запит → детекція. SOTA без фіксованих класів.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1A3A6B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 2024: YOLOv10 та RT-DETR усунули NMS → end-to-end детекція зменшує latency на ~20%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ПРИКЛАД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Детекція пішоходів у системах 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Специфічні виклики задачі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7276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04" y="15544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Оклюзії: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37360" y="155448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видимості тіла. CrowdHuman: 470K таких прикладів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9456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" y="21762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Дрібні об'єкти: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737360" y="217627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десятків пікселів на великій відстані → SAHI +5–15%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1635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" y="27980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Нічна зйомка: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737360" y="279806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IR/Thermal fusion для детекції незалежно від освітлення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38144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" y="34198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час: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737360" y="341985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Вимога &lt; 30 мс/кадр у системах ADAS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5993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3504" y="40416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Аспект 1:2: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737360" y="404164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Специфічні anchor boxes або anchor-free предиктори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66344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системи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663440" y="1572768"/>
            <a:ext cx="4114800" cy="530352"/>
          </a:xfrm>
          <a:prstGeom prst="rect">
            <a:avLst/>
          </a:prstGeom>
          <a:solidFill>
            <a:srgbClr val="0F1B35">
              <a:alpha val="9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663440" y="1572768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047488" y="1664208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0"/>
          <p:cNvSpPr/>
          <p:nvPr/>
        </p:nvSpPr>
        <p:spPr>
          <a:xfrm>
            <a:off x="5138928" y="16276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Відеопотік з камери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138928" y="18470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/ RGB+Thermal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035040" y="2103120"/>
            <a:ext cx="27432" cy="9144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0" name="Shape 23"/>
          <p:cNvSpPr/>
          <p:nvPr/>
        </p:nvSpPr>
        <p:spPr>
          <a:xfrm>
            <a:off x="4663440" y="2194560"/>
            <a:ext cx="4114800" cy="530352"/>
          </a:xfrm>
          <a:prstGeom prst="rect">
            <a:avLst/>
          </a:prstGeom>
          <a:solidFill>
            <a:srgbClr val="0F1B35">
              <a:alpha val="9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663440" y="219456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047488" y="2286000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6"/>
          <p:cNvSpPr/>
          <p:nvPr/>
        </p:nvSpPr>
        <p:spPr>
          <a:xfrm>
            <a:off x="5138928" y="22494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 + масштаб 640×640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138928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Letterboxing, ImageNet stats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035040" y="2724912"/>
            <a:ext cx="27432" cy="9144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6" name="Shape 29"/>
          <p:cNvSpPr/>
          <p:nvPr/>
        </p:nvSpPr>
        <p:spPr>
          <a:xfrm>
            <a:off x="4663440" y="2816352"/>
            <a:ext cx="4114800" cy="530352"/>
          </a:xfrm>
          <a:prstGeom prst="rect">
            <a:avLst/>
          </a:prstGeom>
          <a:solidFill>
            <a:srgbClr val="2E8BFF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663440" y="281635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5047488" y="2907792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2"/>
          <p:cNvSpPr/>
          <p:nvPr/>
        </p:nvSpPr>
        <p:spPr>
          <a:xfrm>
            <a:off x="5138928" y="28712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RT-DETR inference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138928" y="30906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виділений крок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6035040" y="3346704"/>
            <a:ext cx="27432" cy="9144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42" name="Shape 35"/>
          <p:cNvSpPr/>
          <p:nvPr/>
        </p:nvSpPr>
        <p:spPr>
          <a:xfrm>
            <a:off x="4663440" y="3438144"/>
            <a:ext cx="4114800" cy="530352"/>
          </a:xfrm>
          <a:prstGeom prst="rect">
            <a:avLst/>
          </a:prstGeom>
          <a:solidFill>
            <a:srgbClr val="0F1B35">
              <a:alpha val="9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663440" y="3438144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5047488" y="3529584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38"/>
          <p:cNvSpPr/>
          <p:nvPr/>
        </p:nvSpPr>
        <p:spPr>
          <a:xfrm>
            <a:off x="5138928" y="34930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→ ByteTrack [14]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5138928" y="37124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80.3% MOT17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6035040" y="3968496"/>
            <a:ext cx="27432" cy="9144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48" name="Shape 41"/>
          <p:cNvSpPr/>
          <p:nvPr/>
        </p:nvSpPr>
        <p:spPr>
          <a:xfrm>
            <a:off x="4663440" y="4059936"/>
            <a:ext cx="4114800" cy="530352"/>
          </a:xfrm>
          <a:prstGeom prst="rect">
            <a:avLst/>
          </a:prstGeom>
          <a:solidFill>
            <a:srgbClr val="0F1B35">
              <a:alpha val="9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4663440" y="4059936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5047488" y="4151376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4"/>
          <p:cNvSpPr/>
          <p:nvPr/>
        </p:nvSpPr>
        <p:spPr>
          <a:xfrm>
            <a:off x="5138928" y="41148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для дрібних пішоходів</a:t>
            </a:r>
            <a:endParaRPr lang="en-US" sz="1050" dirty="0"/>
          </a:p>
        </p:txBody>
      </p:sp>
      <p:sp>
        <p:nvSpPr>
          <p:cNvPr id="52" name="Text 45"/>
          <p:cNvSpPr/>
          <p:nvPr/>
        </p:nvSpPr>
        <p:spPr>
          <a:xfrm>
            <a:off x="5138928" y="43342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+5–15% recall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ДАТАСЕТИ ТА БЕНЧМАРКИ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датасети та метрики галузі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207008"/>
            <a:ext cx="1627632" cy="4572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260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" y="2633472"/>
            <a:ext cx="1170432" cy="27432"/>
          </a:xfrm>
          <a:prstGeom prst="rect">
            <a:avLst/>
          </a:prstGeom>
          <a:solidFill>
            <a:srgbClr val="2E8BFF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класів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2009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260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Top-1/Top-5 Accuracy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2996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29968" y="1207008"/>
            <a:ext cx="1627632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202996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2996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2996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58568" y="2633472"/>
            <a:ext cx="1170432" cy="27432"/>
          </a:xfrm>
          <a:prstGeom prst="rect">
            <a:avLst/>
          </a:prstGeom>
          <a:solidFill>
            <a:srgbClr val="00D4AA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02996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категорій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2996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2014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2996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2996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mAP@[0.5:0.95]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6732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67328" y="1207008"/>
            <a:ext cx="162763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76732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Cityscapes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6732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76732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кадрів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95928" y="2633472"/>
            <a:ext cx="1170432" cy="27432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76732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класів ADAS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6732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2016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76732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6732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0468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04688" y="1207008"/>
            <a:ext cx="1627632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0" name="Text 38"/>
          <p:cNvSpPr/>
          <p:nvPr/>
        </p:nvSpPr>
        <p:spPr>
          <a:xfrm>
            <a:off x="550468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CrowdHuman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0468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50468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анотацій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33288" y="2633472"/>
            <a:ext cx="1170432" cy="27432"/>
          </a:xfrm>
          <a:prstGeom prst="rect">
            <a:avLst/>
          </a:prstGeom>
          <a:solidFill>
            <a:srgbClr val="A78BFA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50468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Пішоходи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Оклюзії в натовпі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0468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2018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0468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0468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MR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4204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34D399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42048" y="1207008"/>
            <a:ext cx="1627632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0" name="Text 48"/>
          <p:cNvSpPr/>
          <p:nvPr/>
        </p:nvSpPr>
        <p:spPr>
          <a:xfrm>
            <a:off x="724204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SA-1B (SAM)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4204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724204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масок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70648" y="2633472"/>
            <a:ext cx="1170432" cy="27432"/>
          </a:xfrm>
          <a:prstGeom prst="rect">
            <a:avLst/>
          </a:prstGeom>
          <a:solidFill>
            <a:srgbClr val="34D399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24204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24204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2023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24204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4204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IoU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СУЧАСНІ ТЕНДЕНЦІЇ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— нова парадигма (2021–2024)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5176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61872"/>
            <a:ext cx="2651760" cy="438912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07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[17]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307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2021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ImageNet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 пар зображення-текст. Contrastive learning. Класифікація за довільним текстом без fine-tuning.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261872"/>
            <a:ext cx="265176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61872"/>
            <a:ext cx="2651760" cy="4389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307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[23]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307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 2024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91840" y="177393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 FPS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21579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 сегментація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3957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 масок (SA-1B). Prompt → маска: точка, рамка, текст. Streaming memory для відстеження в відео.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261872"/>
            <a:ext cx="265176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261872"/>
            <a:ext cx="2651760" cy="43891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307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[21]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1307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2023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177393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21579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на COCO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3957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Текстовий запит → bounding box. Open-vocabulary: не обмежений фіксованим набором класів.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22192"/>
            <a:ext cx="8412480" cy="1115568"/>
          </a:xfrm>
          <a:prstGeom prst="rect">
            <a:avLst/>
          </a:prstGeom>
          <a:solidFill>
            <a:srgbClr val="0F1B35"/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22192"/>
            <a:ext cx="64008" cy="11155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8862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Ключовий інсайт: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0352" y="415137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найбільш цінні там, де анотовані дані дефіцитні — медицина, аерофотознімки, промислові дефекти. При достатньому обсязі даних спеціалізовані моделі зазвичай перевершують їх у цільовому домені. Zero-shot ≠ SOTA, але підхід кардинально знижує вартість розмітки.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20116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13232"/>
            <a:ext cx="850392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2608" y="868680"/>
            <a:ext cx="4224528" cy="4114800"/>
          </a:xfrm>
          <a:prstGeom prst="rect">
            <a:avLst/>
          </a:prstGeom>
          <a:solidFill>
            <a:srgbClr val="162447"/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68680"/>
            <a:ext cx="4224528" cy="420624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0525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1 — Препроцесинг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8988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1353312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 за ImageNet stats — стандарт трансферного навчання [2,4,16]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7627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" y="2139696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[24] + DnCNN [25] — оптимальний баланс якості та швидкості деноізингу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6265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" y="2926080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Морфологічні операції незамінні для post-processing сегментаційних масок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74904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" y="3712464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Аугментація (AutoAugment, CutMix, Copy-Paste) підвищує точність на 5–15%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681728" y="868680"/>
            <a:ext cx="4224528" cy="4114800"/>
          </a:xfrm>
          <a:prstGeom prst="rect">
            <a:avLst/>
          </a:prstGeom>
          <a:solidFill>
            <a:srgbClr val="162447"/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681728" y="868680"/>
            <a:ext cx="4224528" cy="42062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3"/>
          <p:cNvSpPr/>
          <p:nvPr/>
        </p:nvSpPr>
        <p:spPr>
          <a:xfrm>
            <a:off x="4773168" y="90525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 — Глибоке навчання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3898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65776" y="1353312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[4] — фундаментальний принцип усіх сучасних архітектур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17627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65776" y="2139696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[7] + RT-DETR [20] — лідери детекції в реальному часі (COCO mAP 53–55%)</a:t>
            </a:r>
            <a:endParaRPr lang="en-US" sz="10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962656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65776" y="2926080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 [12] / DeepLabv3+ [9] — оптимальні для сегментації міських сцен</a:t>
            </a:r>
            <a:endParaRPr lang="en-US" sz="10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749040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65776" y="3712464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[13] + Grounding DINO [21] — нова парадигма zero-shot аналізу зображень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Напрямки подальших досліджень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16052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563624"/>
            <a:ext cx="658368" cy="658368"/>
          </a:xfrm>
          <a:prstGeom prst="ellipse">
            <a:avLst/>
          </a:prstGeom>
          <a:solidFill>
            <a:srgbClr val="2E8BFF">
              <a:alpha val="88000"/>
            </a:srgbClr>
          </a:solidFill>
          <a:ln w="12700">
            <a:solidFill>
              <a:srgbClr val="2E8B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1678838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35331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Гібридний пайплайн ADAS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664208"/>
            <a:ext cx="3145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Морфологічні методи + SAM 2 + Grounding DINO для детекції пішоходів при оклюзіях та нічній зйомці.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261872"/>
            <a:ext cx="416052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37176" y="1563624"/>
            <a:ext cx="658368" cy="658368"/>
          </a:xfrm>
          <a:prstGeom prst="ellipse">
            <a:avLst/>
          </a:prstGeom>
          <a:solidFill>
            <a:srgbClr val="00D4AA">
              <a:alpha val="88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390" y="1678838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35331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оптимізація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623560" y="1664208"/>
            <a:ext cx="3145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INT4/INT8 + Knowledge Distillation для YOLOv8 на Jetson Orin/Raspberry Pi 5 (&lt; 30 мс).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651760"/>
            <a:ext cx="416052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3776" y="2953512"/>
            <a:ext cx="658368" cy="658368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3068726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74320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Синтетичні дані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280160" y="3054096"/>
            <a:ext cx="3145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via Stable Diffusion, CARLA для рідкісних сценаріїв: аварії, туман, нічні умови.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09160" y="2651760"/>
            <a:ext cx="416052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37176" y="2953512"/>
            <a:ext cx="658368" cy="658368"/>
          </a:xfrm>
          <a:prstGeom prst="ellipse">
            <a:avLst/>
          </a:prstGeom>
          <a:solidFill>
            <a:srgbClr val="A78BFA">
              <a:alpha val="8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390" y="3068726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274320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623560" y="3054096"/>
            <a:ext cx="3145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Grad-CAM, SHAP, attention maps [10] для інтерпретації рішень у медицині та автономному водінні.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788920" y="4041648"/>
            <a:ext cx="35661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34D399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880360" y="4206240"/>
            <a:ext cx="585216" cy="585216"/>
          </a:xfrm>
          <a:prstGeom prst="ellipse">
            <a:avLst/>
          </a:prstGeom>
          <a:solidFill>
            <a:srgbClr val="34D399">
              <a:alpha val="88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2773" y="4308653"/>
            <a:ext cx="380390" cy="38039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593592" y="4096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Мультимодальна fusion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3593592" y="43616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LiDAR + Thermal для надійної детекції при тумані та вночі — відкрита проблема ADAS.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743200"/>
            <a:ext cx="3657600" cy="3657600"/>
          </a:xfrm>
          <a:prstGeom prst="ellipse">
            <a:avLst/>
          </a:prstGeom>
          <a:solidFill>
            <a:srgbClr val="162447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1143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92608" y="2103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 до запитань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" y="2834640"/>
            <a:ext cx="5029200" cy="3657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3017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Ходаков Максим Олегович  •  КНУ ім. Тараса Шевченка  • 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33284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«Методи обробки зображень для систем глибокого навчання»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182880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наукових джерел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3794760"/>
            <a:ext cx="182880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6888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напрямки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3794760"/>
            <a:ext cx="182880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3794760"/>
            <a:ext cx="182880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7512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слайдів</a:t>
            </a:r>
            <a:endParaRPr lang="en-US" sz="9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406640" y="31089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1535</Words>
  <Application>Microsoft Macintosh PowerPoint</Application>
  <PresentationFormat>On-screen Show (16:9)</PresentationFormat>
  <Paragraphs>344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Методи обробки зображень для систем глибокого навчання</dc:title>
  <dc:subject>PptxGenJS Presentation</dc:subject>
  <dc:creator>Ходаков Максим Олегович</dc:creator>
  <cp:lastModifiedBy>Maksym Khodakov</cp:lastModifiedBy>
  <cp:revision>5</cp:revision>
  <dcterms:created xsi:type="dcterms:W3CDTF">2026-03-22T14:59:28Z</dcterms:created>
  <dcterms:modified xsi:type="dcterms:W3CDTF">2026-03-22T15:14:48Z</dcterms:modified>
</cp:coreProperties>
</file>