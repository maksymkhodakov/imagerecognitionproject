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DD40C62D-ACA7-F27A-E133-82E2C454E2D7}">
          <p14:sldIdLst>
            <p14:sldId id="256"/>
            <p14:sldId id="257"/>
          </p14:sldIdLst>
        </p14:section>
        <p14:section name="Постановка" id="{68B933D1-8E6A-87CA-650D-27301B11E7E7}">
          <p14:sldIdLst>
            <p14:sldId id="258"/>
            <p14:sldId id="259"/>
          </p14:sldIdLst>
        </p14:section>
        <p14:section name="Методи" id="{1EC10237-5594-5FD5-80C2-AF2720CA5E81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Результати" id="{208E5C21-374E-7466-4362-D43CA8D6C692}">
          <p14:sldIdLst>
            <p14:sldId id="266"/>
            <p14:sldId id="267"/>
            <p14:sldId id="268"/>
            <p14:sldId id="269"/>
          </p14:sldIdLst>
        </p14:section>
        <p14:section name="Висновки" id="{5B8C1BD9-FF35-A746-7FE9-4687821E6FEA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uk-UA" sz="1400" b="0" i="0" u="none" strike="noStrike">
                <a:solidFill>
                  <a:srgbClr val="0F172A"/>
                </a:solidFill>
                <a:latin typeface="+mn-lt"/>
              </a:rPr>
              <a:t>Якість на валідаційній вибірці за епохами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AP50 (val)</c:v>
                </c:pt>
              </c:strCache>
            </c:strRef>
          </c:tx>
          <c:spPr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0.68600000000000005</c:v>
                </c:pt>
                <c:pt idx="1">
                  <c:v>0.80500000000000005</c:v>
                </c:pt>
                <c:pt idx="2">
                  <c:v>0.82299999999999995</c:v>
                </c:pt>
                <c:pt idx="3">
                  <c:v>0.85399999999999998</c:v>
                </c:pt>
                <c:pt idx="4">
                  <c:v>0.86899999999999999</c:v>
                </c:pt>
                <c:pt idx="5">
                  <c:v>0.88300000000000001</c:v>
                </c:pt>
                <c:pt idx="6">
                  <c:v>0.88900000000000001</c:v>
                </c:pt>
                <c:pt idx="7">
                  <c:v>0.89500000000000002</c:v>
                </c:pt>
                <c:pt idx="8">
                  <c:v>0.91100000000000003</c:v>
                </c:pt>
                <c:pt idx="9">
                  <c:v>0.91600000000000004</c:v>
                </c:pt>
                <c:pt idx="10">
                  <c:v>0.92100000000000004</c:v>
                </c:pt>
                <c:pt idx="11">
                  <c:v>0.92800000000000005</c:v>
                </c:pt>
                <c:pt idx="12">
                  <c:v>0.92700000000000005</c:v>
                </c:pt>
                <c:pt idx="13">
                  <c:v>0.92800000000000005</c:v>
                </c:pt>
                <c:pt idx="14">
                  <c:v>0.92800000000000005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32-2644-BB73-9D853B5638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AP50-95 (val)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0.28000000000000003</c:v>
                </c:pt>
                <c:pt idx="1">
                  <c:v>0.38200000000000001</c:v>
                </c:pt>
                <c:pt idx="2">
                  <c:v>0.42499999999999999</c:v>
                </c:pt>
                <c:pt idx="3">
                  <c:v>0.45100000000000001</c:v>
                </c:pt>
                <c:pt idx="4">
                  <c:v>0.498</c:v>
                </c:pt>
                <c:pt idx="5">
                  <c:v>0.52800000000000002</c:v>
                </c:pt>
                <c:pt idx="6">
                  <c:v>0.54800000000000004</c:v>
                </c:pt>
                <c:pt idx="7">
                  <c:v>0.55500000000000005</c:v>
                </c:pt>
                <c:pt idx="8">
                  <c:v>0.59599999999999997</c:v>
                </c:pt>
                <c:pt idx="9">
                  <c:v>0.59399999999999997</c:v>
                </c:pt>
                <c:pt idx="10">
                  <c:v>0.61899999999999999</c:v>
                </c:pt>
                <c:pt idx="11">
                  <c:v>0.63800000000000001</c:v>
                </c:pt>
                <c:pt idx="12">
                  <c:v>0.63400000000000001</c:v>
                </c:pt>
                <c:pt idx="13">
                  <c:v>0.64400000000000002</c:v>
                </c:pt>
                <c:pt idx="14">
                  <c:v>0.64500000000000002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32-2644-BB73-9D853B5638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uk-UA" sz="1200" b="0" i="0" u="none" strike="noStrike">
                    <a:solidFill>
                      <a:srgbClr val="000000"/>
                    </a:solidFill>
                    <a:latin typeface="Arial"/>
                  </a:rPr>
                  <a:t>епоха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0F172A"/>
                </a:solidFill>
                <a:latin typeface="+mn-lt"/>
              </a:rPr>
              <a:t>AP50 </a:t>
            </a:r>
            <a:r>
              <a:rPr lang="uk-UA" sz="1400" b="0" i="0" u="none" strike="noStrike">
                <a:solidFill>
                  <a:srgbClr val="0F172A"/>
                </a:solidFill>
                <a:latin typeface="+mn-lt"/>
              </a:rPr>
              <a:t>на тестових вибірках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Caltech test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PedNet (власна)</c:v>
                </c:pt>
                <c:pt idx="1">
                  <c:v>YOLOv8n 12 еп.</c:v>
                </c:pt>
                <c:pt idx="2">
                  <c:v>YOLOv8n 5 еп.</c:v>
                </c:pt>
                <c:pt idx="3">
                  <c:v>YOLOv8n COCO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0.67700000000000005</c:v>
                </c:pt>
                <c:pt idx="1">
                  <c:v>0.67400000000000004</c:v>
                </c:pt>
                <c:pt idx="2">
                  <c:v>0.69</c:v>
                </c:pt>
                <c:pt idx="3">
                  <c:v>0.54400000000000004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F6-BE43-AEDB-EC41A28BCE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INRIA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PedNet (власна)</c:v>
                </c:pt>
                <c:pt idx="1">
                  <c:v>YOLOv8n 12 еп.</c:v>
                </c:pt>
                <c:pt idx="2">
                  <c:v>YOLOv8n 5 еп.</c:v>
                </c:pt>
                <c:pt idx="3">
                  <c:v>YOLOv8n COCO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0.32200000000000001</c:v>
                </c:pt>
                <c:pt idx="1">
                  <c:v>0.60099999999999998</c:v>
                </c:pt>
                <c:pt idx="2">
                  <c:v>0.58399999999999996</c:v>
                </c:pt>
                <c:pt idx="3">
                  <c:v>0.94799999999999995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F6-BE43-AEDB-EC41A28BCE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lang="uk-UA" sz="1400" b="0" i="0" u="none" strike="noStrike">
                <a:solidFill>
                  <a:srgbClr val="0F172A"/>
                </a:solidFill>
                <a:latin typeface="+mn-lt"/>
              </a:rPr>
              <a:t>Час на кадр, мс (з пре- і постобробкою)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мс/кадр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+mn-lt"/>
                  </a:defRPr>
                </a:pPr>
                <a:endParaRPr lang="en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PedNet</c:v>
                </c:pt>
                <c:pt idx="1">
                  <c:v>YOLOv8n COCO</c:v>
                </c:pt>
                <c:pt idx="2">
                  <c:v>YOLOv8n 5 еп.</c:v>
                </c:pt>
                <c:pt idx="3">
                  <c:v>YOLOv8n 12 еп.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41.4</c:v>
                </c:pt>
                <c:pt idx="1">
                  <c:v>36.5</c:v>
                </c:pt>
                <c:pt idx="2">
                  <c:v>25.3</c:v>
                </c:pt>
                <c:pt idx="3">
                  <c:v>24.9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F6-D142-ADA6-9E53EEB423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66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дослідження 3-го семестру продовжує огляд 2-го семестру: методи обробки зображень досліджено на практичній задачі — детекції та відстеженні пішоходів на відео з автомобільної камери.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Пропущений пішохід — потенційне зіткнення, надлишок хибних спрацювань — непотрібне гальмування. Тому важливі одночасно повнота, точність і швидкодія.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 обробки систематизовано за місцем у конвеєрі: вхід, усередині мережі, вихід і часова обробка. Кожну групу реалізовано та перевірено експериментально.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Caltech точно відповідає цільовому сценарію — бортова камера. INRIA — інший домен, для перевірки узагальнення. Під час аналізу даних виявлено витік між train і 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геометричні перетворення афінні, тому їх коректно застосовувати і до рамок. Фотометричні — не змінюють геометрію.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Малий крок 4 обрано під пішоходів: на кроці 32 близькі пішоходи зливаються в одну комірку. Вартість високої роздільності компенсовано DW-згортками.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Радіус r обчислюється як у CenterNet: найбільший зсув, за якого IoU ≥ 0,7. Модифікація — анізотропний радіус.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YOLOv8n — еталон сучасного детектора реального часу з близькою кількістю параметрів. SORT додає менше 1 мс на кадр.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 — детекція з IoU ≥ 0,5 з ще не знайденим пішоходом; дублікати — FP. Робочий поріг кожної моделі — точка максимуму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Насичення після 12 епохи означає, що без нових даних збільшувати кількість епох недоцільно. Валідаційні цифри завищені через витік даних.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Caltech PedNet не поступається донавченій YOLOv8n за AP50. На іншому домені вузька спеціалізація різко погіршує якість.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Частина «хибних спрацювань» моделі COCO насправді є правильними детекціями нерозмічених малих пішоходів.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Трекер майже не додає часу, але відсіює поодинокі хибні спрацювання і зберігає ID при пропусках до 15 кадрів.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Головний висновок: методи обробки зображень і підготовки даних впливають на результат не менше, ніж вибір архітектури.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10881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Ходаков М. О. · НДП, 3-й семестр · КНУ імені Тараса Шевченка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КИЇВСЬКИЙ НАЦІОНАЛЬНИЙ УНІВЕРСИТЕТ ІМЕНІ ТАРАСА ШЕВЧЕНКА</a:t>
            </a:r>
            <a:endParaRPr lang="en-US" sz="1400" dirty="0"/>
          </a:p>
        </p:txBody>
      </p:sp>
      <p:sp>
        <p:nvSpPr>
          <p:cNvPr id="3" name="text_2"/>
          <p:cNvSpPr txBox="1"/>
          <p:nvPr/>
        </p:nvSpPr>
        <p:spPr>
          <a:xfrm>
            <a:off x="640080" y="8412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Факультет комп’ютерних наук та кібернетики · Кафедра теоретичної кібернетики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2"/>
                </a:solidFill>
              </a:rPr>
              <a:t>Методи обробки зображень у системах глибокого навчання 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</a:rPr>
              <a:t>на прикладі задачі детекції пішоходів</a:t>
            </a:r>
            <a:endParaRPr lang="en-US" sz="4000" dirty="0"/>
          </a:p>
        </p:txBody>
      </p:sp>
      <p:sp>
        <p:nvSpPr>
          <p:cNvPr id="5" name="text_3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Науково-дослідницька практика · 3-й семестр · ОНП «Штучний інтелект»</a:t>
            </a:r>
            <a:endParaRPr lang="en-US" sz="1600" dirty="0"/>
          </a:p>
        </p:txBody>
      </p:sp>
      <p:sp>
        <p:nvSpPr>
          <p:cNvPr id="6" name="text_4"/>
          <p:cNvSpPr txBox="1"/>
          <p:nvPr/>
        </p:nvSpPr>
        <p:spPr>
          <a:xfrm>
            <a:off x="640080" y="4846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Ходаков Максим Олегович</a:t>
            </a:r>
            <a:endParaRPr lang="en-US" sz="2200" dirty="0"/>
          </a:p>
        </p:txBody>
      </p:sp>
      <p:sp>
        <p:nvSpPr>
          <p:cNvPr id="7" name="text_5"/>
          <p:cNvSpPr txBox="1"/>
          <p:nvPr/>
        </p:nvSpPr>
        <p:spPr>
          <a:xfrm>
            <a:off x="64008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Керівник практики: Пашко А. О., д.ф.-м.н., професор кафедри теоретичної кібернетики</a:t>
            </a:r>
            <a:endParaRPr lang="en-US" sz="1400" dirty="0"/>
          </a:p>
        </p:txBody>
      </p:sp>
      <p:sp>
        <p:nvSpPr>
          <p:cNvPr id="8" name="text_6"/>
          <p:cNvSpPr txBox="1"/>
          <p:nvPr/>
        </p:nvSpPr>
        <p:spPr>
          <a:xfrm>
            <a:off x="64008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Київ,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Зміст</a:t>
            </a:r>
            <a:endParaRPr lang="en-US" sz="3000" dirty="0"/>
          </a:p>
        </p:txBody>
      </p:sp>
      <p:sp>
        <p:nvSpPr>
          <p:cNvPr id="3" name="card_7"/>
          <p:cNvSpPr/>
          <p:nvPr/>
        </p:nvSpPr>
        <p:spPr>
          <a:xfrm>
            <a:off x="548640" y="137160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badge_8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_9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_10"/>
          <p:cNvSpPr txBox="1"/>
          <p:nvPr/>
        </p:nvSpPr>
        <p:spPr>
          <a:xfrm>
            <a:off x="1508760" y="1463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Постановка задачі, мета та завдання</a:t>
            </a:r>
            <a:endParaRPr lang="en-US" sz="1800" dirty="0"/>
          </a:p>
        </p:txBody>
      </p:sp>
      <p:sp>
        <p:nvSpPr>
          <p:cNvPr id="7" name="card_11"/>
          <p:cNvSpPr/>
          <p:nvPr/>
        </p:nvSpPr>
        <p:spPr>
          <a:xfrm>
            <a:off x="6172200" y="137160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badge_12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_13"/>
          <p:cNvSpPr txBox="1"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_14"/>
          <p:cNvSpPr txBox="1"/>
          <p:nvPr/>
        </p:nvSpPr>
        <p:spPr>
          <a:xfrm>
            <a:off x="7132320" y="14630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Конвеєр обробки зображень PedVision</a:t>
            </a:r>
            <a:endParaRPr lang="en-US" sz="1800" dirty="0"/>
          </a:p>
        </p:txBody>
      </p:sp>
      <p:sp>
        <p:nvSpPr>
          <p:cNvPr id="11" name="card_15"/>
          <p:cNvSpPr/>
          <p:nvPr/>
        </p:nvSpPr>
        <p:spPr>
          <a:xfrm>
            <a:off x="548640" y="256032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badge_16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_17"/>
          <p:cNvSpPr txBox="1"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_18"/>
          <p:cNvSpPr txBox="1"/>
          <p:nvPr/>
        </p:nvSpPr>
        <p:spPr>
          <a:xfrm>
            <a:off x="1508760" y="2651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Дані, попередня обробка, аугментація</a:t>
            </a:r>
            <a:endParaRPr lang="en-US" sz="1800" dirty="0"/>
          </a:p>
        </p:txBody>
      </p:sp>
      <p:sp>
        <p:nvSpPr>
          <p:cNvPr id="15" name="card_19"/>
          <p:cNvSpPr/>
          <p:nvPr/>
        </p:nvSpPr>
        <p:spPr>
          <a:xfrm>
            <a:off x="6172200" y="256032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badge_20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_21"/>
          <p:cNvSpPr txBox="1"/>
          <p:nvPr/>
        </p:nvSpPr>
        <p:spPr>
          <a:xfrm>
            <a:off x="64008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text_22"/>
          <p:cNvSpPr txBox="1"/>
          <p:nvPr/>
        </p:nvSpPr>
        <p:spPr>
          <a:xfrm>
            <a:off x="7132320" y="2651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Власна модель PedNet і цільові карти</a:t>
            </a:r>
            <a:endParaRPr lang="en-US" sz="1800" dirty="0"/>
          </a:p>
        </p:txBody>
      </p:sp>
      <p:sp>
        <p:nvSpPr>
          <p:cNvPr id="19" name="card_23"/>
          <p:cNvSpPr/>
          <p:nvPr/>
        </p:nvSpPr>
        <p:spPr>
          <a:xfrm>
            <a:off x="548640" y="374904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badge_2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_25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text_26"/>
          <p:cNvSpPr txBox="1"/>
          <p:nvPr/>
        </p:nvSpPr>
        <p:spPr>
          <a:xfrm>
            <a:off x="1508760" y="3840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YOLOv8n, трекер SORT, методика оцінювання</a:t>
            </a:r>
            <a:endParaRPr lang="en-US" sz="1800" dirty="0"/>
          </a:p>
        </p:txBody>
      </p:sp>
      <p:sp>
        <p:nvSpPr>
          <p:cNvPr id="23" name="card_27"/>
          <p:cNvSpPr/>
          <p:nvPr/>
        </p:nvSpPr>
        <p:spPr>
          <a:xfrm>
            <a:off x="6172200" y="374904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badge_28"/>
          <p:cNvSpPr/>
          <p:nvPr/>
        </p:nvSpPr>
        <p:spPr>
          <a:xfrm>
            <a:off x="6400800" y="3977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_29"/>
          <p:cNvSpPr txBox="1"/>
          <p:nvPr/>
        </p:nvSpPr>
        <p:spPr>
          <a:xfrm>
            <a:off x="6400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text_30"/>
          <p:cNvSpPr txBox="1"/>
          <p:nvPr/>
        </p:nvSpPr>
        <p:spPr>
          <a:xfrm>
            <a:off x="7132320" y="3840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Навчання та результати експериментів</a:t>
            </a:r>
            <a:endParaRPr lang="en-US" sz="1800" dirty="0"/>
          </a:p>
        </p:txBody>
      </p:sp>
      <p:sp>
        <p:nvSpPr>
          <p:cNvPr id="27" name="card_31"/>
          <p:cNvSpPr/>
          <p:nvPr/>
        </p:nvSpPr>
        <p:spPr>
          <a:xfrm>
            <a:off x="548640" y="493776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badge_32"/>
          <p:cNvSpPr/>
          <p:nvPr/>
        </p:nvSpPr>
        <p:spPr>
          <a:xfrm>
            <a:off x="777240" y="5166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_33"/>
          <p:cNvSpPr txBox="1"/>
          <p:nvPr/>
        </p:nvSpPr>
        <p:spPr>
          <a:xfrm>
            <a:off x="7772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07</a:t>
            </a:r>
            <a:endParaRPr lang="en-US" sz="1600" dirty="0"/>
          </a:p>
        </p:txBody>
      </p:sp>
      <p:sp>
        <p:nvSpPr>
          <p:cNvPr id="30" name="text_34"/>
          <p:cNvSpPr txBox="1"/>
          <p:nvPr/>
        </p:nvSpPr>
        <p:spPr>
          <a:xfrm>
            <a:off x="1508760" y="50292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Аналіз: що визначає якість і швидкодію</a:t>
            </a:r>
            <a:endParaRPr lang="en-US" sz="1800" dirty="0"/>
          </a:p>
        </p:txBody>
      </p:sp>
      <p:sp>
        <p:nvSpPr>
          <p:cNvPr id="31" name="card_35"/>
          <p:cNvSpPr/>
          <p:nvPr/>
        </p:nvSpPr>
        <p:spPr>
          <a:xfrm>
            <a:off x="6172200" y="493776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badge_36"/>
          <p:cNvSpPr/>
          <p:nvPr/>
        </p:nvSpPr>
        <p:spPr>
          <a:xfrm>
            <a:off x="6400800" y="5166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_37"/>
          <p:cNvSpPr txBox="1"/>
          <p:nvPr/>
        </p:nvSpPr>
        <p:spPr>
          <a:xfrm>
            <a:off x="64008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08</a:t>
            </a:r>
            <a:endParaRPr lang="en-US" sz="1600" dirty="0"/>
          </a:p>
        </p:txBody>
      </p:sp>
      <p:sp>
        <p:nvSpPr>
          <p:cNvPr id="34" name="text_38"/>
          <p:cNvSpPr txBox="1"/>
          <p:nvPr/>
        </p:nvSpPr>
        <p:spPr>
          <a:xfrm>
            <a:off x="7132320" y="50292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Висновки та подальші дослідження</a:t>
            </a:r>
            <a:endParaRPr lang="en-US" sz="1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Задача: знайти й відстежити кожного пішохода в кадрі</a:t>
            </a:r>
            <a:endParaRPr lang="en-US" sz="3000" dirty="0"/>
          </a:p>
        </p:txBody>
      </p:sp>
      <p:sp>
        <p:nvSpPr>
          <p:cNvPr id="3" name="card_39"/>
          <p:cNvSpPr/>
          <p:nvPr/>
        </p:nvSpPr>
        <p:spPr>
          <a:xfrm>
            <a:off x="548640" y="1280160"/>
            <a:ext cx="548640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_40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Постановка задачі</a:t>
            </a:r>
            <a:endParaRPr lang="en-US" sz="1800" dirty="0"/>
          </a:p>
        </p:txBody>
      </p:sp>
      <p:sp>
        <p:nvSpPr>
          <p:cNvPr id="5" name="text_41"/>
          <p:cNvSpPr txBox="1"/>
          <p:nvPr/>
        </p:nvSpPr>
        <p:spPr>
          <a:xfrm>
            <a:off x="777240" y="19659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Вхід: послідовність кадрів з камери на лобовому склі (640 × 480)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Вихід для кожного кадру: {id, x₁, y₁, x₂, y₂, conf} → JSON / CSV / MP4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Парадигма tracking-by-detection: детектор на кожному кадрі + трекер у часі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Вимоги ADAS: висока повнота й точність, реальний час на слабкому обчислювачі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Дослідження: які методи обробки зображень визначають якість, узагальнення та швидкодію</a:t>
            </a:r>
            <a:endParaRPr lang="en-US" sz="1400" dirty="0"/>
          </a:p>
        </p:txBody>
      </p:sp>
      <p:sp>
        <p:nvSpPr>
          <p:cNvPr id="6" name="card_42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badge_43"/>
          <p:cNvSpPr/>
          <p:nvPr/>
        </p:nvSpPr>
        <p:spPr>
          <a:xfrm>
            <a:off x="64922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_44"/>
          <p:cNvSpPr txBox="1"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М</a:t>
            </a:r>
            <a:endParaRPr lang="en-US" sz="1600" dirty="0"/>
          </a:p>
        </p:txBody>
      </p:sp>
      <p:sp>
        <p:nvSpPr>
          <p:cNvPr id="9" name="text_45"/>
          <p:cNvSpPr txBox="1"/>
          <p:nvPr/>
        </p:nvSpPr>
        <p:spPr>
          <a:xfrm>
            <a:off x="708660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Мета</a:t>
            </a:r>
            <a:endParaRPr lang="en-US" sz="1700" dirty="0"/>
          </a:p>
        </p:txBody>
      </p:sp>
      <p:sp>
        <p:nvSpPr>
          <p:cNvPr id="10" name="text_46"/>
          <p:cNvSpPr txBox="1"/>
          <p:nvPr/>
        </p:nvSpPr>
        <p:spPr>
          <a:xfrm>
            <a:off x="7086600" y="19202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розробити й дослідити конвеєр обробки зображень для детекції та трекінгу пішоходів і встановити, які методи визначають якість, узагальнення та швидкодію</a:t>
            </a:r>
            <a:endParaRPr lang="en-US" sz="1400" dirty="0"/>
          </a:p>
        </p:txBody>
      </p:sp>
      <p:sp>
        <p:nvSpPr>
          <p:cNvPr id="11" name="card_47"/>
          <p:cNvSpPr/>
          <p:nvPr/>
        </p:nvSpPr>
        <p:spPr>
          <a:xfrm>
            <a:off x="6309360" y="2926080"/>
            <a:ext cx="5303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badge_48"/>
          <p:cNvSpPr/>
          <p:nvPr/>
        </p:nvSpPr>
        <p:spPr>
          <a:xfrm>
            <a:off x="6492240" y="31089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_49"/>
          <p:cNvSpPr txBox="1"/>
          <p:nvPr/>
        </p:nvSpPr>
        <p:spPr>
          <a:xfrm>
            <a:off x="6492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О</a:t>
            </a:r>
            <a:endParaRPr lang="en-US" sz="1600" dirty="0"/>
          </a:p>
        </p:txBody>
      </p:sp>
      <p:sp>
        <p:nvSpPr>
          <p:cNvPr id="14" name="text_50"/>
          <p:cNvSpPr txBox="1"/>
          <p:nvPr/>
        </p:nvSpPr>
        <p:spPr>
          <a:xfrm>
            <a:off x="7086600" y="3108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Об’єкт</a:t>
            </a:r>
            <a:endParaRPr lang="en-US" sz="1700" dirty="0"/>
          </a:p>
        </p:txBody>
      </p:sp>
      <p:sp>
        <p:nvSpPr>
          <p:cNvPr id="15" name="text_51"/>
          <p:cNvSpPr txBox="1"/>
          <p:nvPr/>
        </p:nvSpPr>
        <p:spPr>
          <a:xfrm>
            <a:off x="7086600" y="3566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процес виявлення та відстеження пішоходів на зображеннях дорожніх сцен системами глибокого навчання</a:t>
            </a:r>
            <a:endParaRPr lang="en-US" sz="1400" dirty="0"/>
          </a:p>
        </p:txBody>
      </p:sp>
      <p:sp>
        <p:nvSpPr>
          <p:cNvPr id="16" name="card_52"/>
          <p:cNvSpPr/>
          <p:nvPr/>
        </p:nvSpPr>
        <p:spPr>
          <a:xfrm>
            <a:off x="6309360" y="4572000"/>
            <a:ext cx="53035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badge_53"/>
          <p:cNvSpPr/>
          <p:nvPr/>
        </p:nvSpPr>
        <p:spPr>
          <a:xfrm>
            <a:off x="6492240" y="4754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_54"/>
          <p:cNvSpPr txBox="1"/>
          <p:nvPr/>
        </p:nvSpPr>
        <p:spPr>
          <a:xfrm>
            <a:off x="6492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П</a:t>
            </a:r>
            <a:endParaRPr lang="en-US" sz="1600" dirty="0"/>
          </a:p>
        </p:txBody>
      </p:sp>
      <p:sp>
        <p:nvSpPr>
          <p:cNvPr id="19" name="text_55"/>
          <p:cNvSpPr txBox="1"/>
          <p:nvPr/>
        </p:nvSpPr>
        <p:spPr>
          <a:xfrm>
            <a:off x="7086600" y="4754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Предмет</a:t>
            </a:r>
            <a:endParaRPr lang="en-US" sz="1700" dirty="0"/>
          </a:p>
        </p:txBody>
      </p:sp>
      <p:sp>
        <p:nvSpPr>
          <p:cNvPr id="20" name="text_56"/>
          <p:cNvSpPr txBox="1"/>
          <p:nvPr/>
        </p:nvSpPr>
        <p:spPr>
          <a:xfrm>
            <a:off x="7086600" y="52120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методи обробки зображень на всіх етапах конвеєра: вхід → мережа → вихід → час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Конвеєр PedVision: обробка зображень на кожному етапі</a:t>
            </a:r>
            <a:endParaRPr lang="en-US" sz="3000" dirty="0"/>
          </a:p>
        </p:txBody>
      </p:sp>
      <p:pic>
        <p:nvPicPr>
          <p:cNvPr id="3" name="image_57" descr="report/figure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1064240" cy="1518223"/>
          </a:xfrm>
          <a:prstGeom prst="rect">
            <a:avLst/>
          </a:prstGeom>
        </p:spPr>
      </p:pic>
      <p:sp>
        <p:nvSpPr>
          <p:cNvPr id="4" name="card_58"/>
          <p:cNvSpPr/>
          <p:nvPr/>
        </p:nvSpPr>
        <p:spPr>
          <a:xfrm>
            <a:off x="548640" y="306324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badge_59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_60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_61"/>
          <p:cNvSpPr txBox="1"/>
          <p:nvPr/>
        </p:nvSpPr>
        <p:spPr>
          <a:xfrm>
            <a:off x="13258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Вхід</a:t>
            </a:r>
            <a:endParaRPr lang="en-US" sz="1800" dirty="0"/>
          </a:p>
        </p:txBody>
      </p:sp>
      <p:sp>
        <p:nvSpPr>
          <p:cNvPr id="8" name="text_62"/>
          <p:cNvSpPr txBox="1"/>
          <p:nvPr/>
        </p:nvSpPr>
        <p:spPr>
          <a:xfrm>
            <a:off x="749808" y="388620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letterbox зі збереженням пропорцій, BGR → RGB, стандартизація ImageNet</a:t>
            </a:r>
            <a:endParaRPr lang="en-US" sz="1600" dirty="0"/>
          </a:p>
        </p:txBody>
      </p:sp>
      <p:sp>
        <p:nvSpPr>
          <p:cNvPr id="9" name="card_63"/>
          <p:cNvSpPr/>
          <p:nvPr/>
        </p:nvSpPr>
        <p:spPr>
          <a:xfrm>
            <a:off x="3364992" y="306324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badge_64"/>
          <p:cNvSpPr/>
          <p:nvPr/>
        </p:nvSpPr>
        <p:spPr>
          <a:xfrm>
            <a:off x="3547872" y="3246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_65"/>
          <p:cNvSpPr txBox="1"/>
          <p:nvPr/>
        </p:nvSpPr>
        <p:spPr>
          <a:xfrm>
            <a:off x="354787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_66"/>
          <p:cNvSpPr txBox="1"/>
          <p:nvPr/>
        </p:nvSpPr>
        <p:spPr>
          <a:xfrm>
            <a:off x="4142232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Мережа</a:t>
            </a:r>
            <a:endParaRPr lang="en-US" sz="1800" dirty="0"/>
          </a:p>
        </p:txBody>
      </p:sp>
      <p:sp>
        <p:nvSpPr>
          <p:cNvPr id="13" name="text_67"/>
          <p:cNvSpPr txBox="1"/>
          <p:nvPr/>
        </p:nvSpPr>
        <p:spPr>
          <a:xfrm>
            <a:off x="3566160" y="388620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PedNet: MobileNetV3 + власна FPN (крок 4); YOLOv8n: CSPDarknet + PAN</a:t>
            </a:r>
            <a:endParaRPr lang="en-US" sz="1600" dirty="0"/>
          </a:p>
        </p:txBody>
      </p:sp>
      <p:sp>
        <p:nvSpPr>
          <p:cNvPr id="14" name="card_68"/>
          <p:cNvSpPr/>
          <p:nvPr/>
        </p:nvSpPr>
        <p:spPr>
          <a:xfrm>
            <a:off x="6181344" y="306324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badge_69"/>
          <p:cNvSpPr/>
          <p:nvPr/>
        </p:nvSpPr>
        <p:spPr>
          <a:xfrm>
            <a:off x="6364224" y="32461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_70"/>
          <p:cNvSpPr txBox="1"/>
          <p:nvPr/>
        </p:nvSpPr>
        <p:spPr>
          <a:xfrm>
            <a:off x="6364224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_71"/>
          <p:cNvSpPr txBox="1"/>
          <p:nvPr/>
        </p:nvSpPr>
        <p:spPr>
          <a:xfrm>
            <a:off x="6958584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Вихід</a:t>
            </a:r>
            <a:endParaRPr lang="en-US" sz="1800" dirty="0"/>
          </a:p>
        </p:txBody>
      </p:sp>
      <p:sp>
        <p:nvSpPr>
          <p:cNvPr id="18" name="text_72"/>
          <p:cNvSpPr txBox="1"/>
          <p:nvPr/>
        </p:nvSpPr>
        <p:spPr>
          <a:xfrm>
            <a:off x="6382512" y="388620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пошук піків max-pool 3×3, top-100, NMS (IoU 0,5), обернений letterbox</a:t>
            </a:r>
            <a:endParaRPr lang="en-US" sz="1600" dirty="0"/>
          </a:p>
        </p:txBody>
      </p:sp>
      <p:sp>
        <p:nvSpPr>
          <p:cNvPr id="19" name="card_73"/>
          <p:cNvSpPr/>
          <p:nvPr/>
        </p:nvSpPr>
        <p:spPr>
          <a:xfrm>
            <a:off x="8997696" y="3063240"/>
            <a:ext cx="263347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badge_74"/>
          <p:cNvSpPr/>
          <p:nvPr/>
        </p:nvSpPr>
        <p:spPr>
          <a:xfrm>
            <a:off x="9180576" y="32461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_75"/>
          <p:cNvSpPr txBox="1"/>
          <p:nvPr/>
        </p:nvSpPr>
        <p:spPr>
          <a:xfrm>
            <a:off x="9180576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_76"/>
          <p:cNvSpPr txBox="1"/>
          <p:nvPr/>
        </p:nvSpPr>
        <p:spPr>
          <a:xfrm>
            <a:off x="9774936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Час</a:t>
            </a:r>
            <a:endParaRPr lang="en-US" sz="1800" dirty="0"/>
          </a:p>
        </p:txBody>
      </p:sp>
      <p:sp>
        <p:nvSpPr>
          <p:cNvPr id="23" name="text_77"/>
          <p:cNvSpPr txBox="1"/>
          <p:nvPr/>
        </p:nvSpPr>
        <p:spPr>
          <a:xfrm>
            <a:off x="9198864" y="388620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SORT: фільтр Калмана + угорський алгоритм, сталий ID пішохода</a:t>
            </a:r>
            <a:endParaRPr lang="en-US" sz="1600" dirty="0"/>
          </a:p>
        </p:txBody>
      </p:sp>
      <p:sp>
        <p:nvSpPr>
          <p:cNvPr id="24" name="text_7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Усі детектори мають один інтерфейс predict(frame) → (N, 5), тож трекінг, метрики й веб-платформа не залежать від моделі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Дані: Caltech Pedestrian та незалежний тест INRIA</a:t>
            </a:r>
            <a:endParaRPr lang="en-US" sz="3000" dirty="0"/>
          </a:p>
        </p:txBody>
      </p:sp>
      <p:pic>
        <p:nvPicPr>
          <p:cNvPr id="3" name="image_79" descr="Кадри Caltech (вгорі) та INRIA (внизу) з розміткою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760720" cy="3012546"/>
          </a:xfrm>
          <a:prstGeom prst="rect">
            <a:avLst/>
          </a:prstGeom>
        </p:spPr>
      </p:pic>
      <p:sp>
        <p:nvSpPr>
          <p:cNvPr id="4" name="text_80"/>
          <p:cNvSpPr txBox="1"/>
          <p:nvPr/>
        </p:nvSpPr>
        <p:spPr>
          <a:xfrm>
            <a:off x="548640" y="430185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Кадри Caltech (вгорі) та INRIA (внизу) з розміткою</a:t>
            </a:r>
            <a:endParaRPr lang="en-US" sz="1100" dirty="0"/>
          </a:p>
        </p:txBody>
      </p:sp>
      <p:sp>
        <p:nvSpPr>
          <p:cNvPr id="5" name="card_81"/>
          <p:cNvSpPr/>
          <p:nvPr/>
        </p:nvSpPr>
        <p:spPr>
          <a:xfrm>
            <a:off x="6583680" y="1234440"/>
            <a:ext cx="2423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_82"/>
          <p:cNvSpPr txBox="1"/>
          <p:nvPr/>
        </p:nvSpPr>
        <p:spPr>
          <a:xfrm>
            <a:off x="6766560" y="13441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6 390</a:t>
            </a:r>
            <a:endParaRPr lang="en-US" sz="3600" dirty="0"/>
          </a:p>
        </p:txBody>
      </p:sp>
      <p:sp>
        <p:nvSpPr>
          <p:cNvPr id="7" name="text_83"/>
          <p:cNvSpPr txBox="1"/>
          <p:nvPr/>
        </p:nvSpPr>
        <p:spPr>
          <a:xfrm>
            <a:off x="6766560" y="20391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кадрів навчання (кожен 2-й, set00–05)</a:t>
            </a:r>
            <a:endParaRPr lang="en-US" sz="1200" dirty="0"/>
          </a:p>
        </p:txBody>
      </p:sp>
      <p:sp>
        <p:nvSpPr>
          <p:cNvPr id="8" name="card_84"/>
          <p:cNvSpPr/>
          <p:nvPr/>
        </p:nvSpPr>
        <p:spPr>
          <a:xfrm>
            <a:off x="9189720" y="1234440"/>
            <a:ext cx="2423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_85"/>
          <p:cNvSpPr txBox="1"/>
          <p:nvPr/>
        </p:nvSpPr>
        <p:spPr>
          <a:xfrm>
            <a:off x="9372600" y="134416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4 002</a:t>
            </a:r>
            <a:endParaRPr lang="en-US" sz="3600" dirty="0"/>
          </a:p>
        </p:txBody>
      </p:sp>
      <p:sp>
        <p:nvSpPr>
          <p:cNvPr id="10" name="text_86"/>
          <p:cNvSpPr txBox="1"/>
          <p:nvPr/>
        </p:nvSpPr>
        <p:spPr>
          <a:xfrm>
            <a:off x="9372600" y="20391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тестові кадри Caltech (set06–10)</a:t>
            </a:r>
            <a:endParaRPr lang="en-US" sz="1200" dirty="0"/>
          </a:p>
        </p:txBody>
      </p:sp>
      <p:sp>
        <p:nvSpPr>
          <p:cNvPr id="11" name="card_87"/>
          <p:cNvSpPr/>
          <p:nvPr/>
        </p:nvSpPr>
        <p:spPr>
          <a:xfrm>
            <a:off x="6583680" y="2697480"/>
            <a:ext cx="2423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_88"/>
          <p:cNvSpPr txBox="1"/>
          <p:nvPr/>
        </p:nvSpPr>
        <p:spPr>
          <a:xfrm>
            <a:off x="6766560" y="2807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288</a:t>
            </a:r>
            <a:endParaRPr lang="en-US" sz="3600" dirty="0"/>
          </a:p>
        </p:txBody>
      </p:sp>
      <p:sp>
        <p:nvSpPr>
          <p:cNvPr id="13" name="text_89"/>
          <p:cNvSpPr txBox="1"/>
          <p:nvPr/>
        </p:nvSpPr>
        <p:spPr>
          <a:xfrm>
            <a:off x="6766560" y="35021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зображень INRIA, 597 пішоходів</a:t>
            </a:r>
            <a:endParaRPr lang="en-US" sz="1200" dirty="0"/>
          </a:p>
        </p:txBody>
      </p:sp>
      <p:sp>
        <p:nvSpPr>
          <p:cNvPr id="14" name="card_90"/>
          <p:cNvSpPr/>
          <p:nvPr/>
        </p:nvSpPr>
        <p:spPr>
          <a:xfrm>
            <a:off x="9189720" y="2697480"/>
            <a:ext cx="2423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_91"/>
          <p:cNvSpPr txBox="1"/>
          <p:nvPr/>
        </p:nvSpPr>
        <p:spPr>
          <a:xfrm>
            <a:off x="9372600" y="280720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≥ 75 px</a:t>
            </a:r>
            <a:endParaRPr lang="en-US" sz="3600" dirty="0"/>
          </a:p>
        </p:txBody>
      </p:sp>
      <p:sp>
        <p:nvSpPr>
          <p:cNvPr id="16" name="text_92"/>
          <p:cNvSpPr txBox="1"/>
          <p:nvPr/>
        </p:nvSpPr>
        <p:spPr>
          <a:xfrm>
            <a:off x="9372600" y="35021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лише такі пішоходи розмічені</a:t>
            </a:r>
            <a:endParaRPr lang="en-US" sz="1200" dirty="0"/>
          </a:p>
        </p:txBody>
      </p:sp>
      <p:sp>
        <p:nvSpPr>
          <p:cNvPr id="17" name="card_93"/>
          <p:cNvSpPr/>
          <p:nvPr/>
        </p:nvSpPr>
        <p:spPr>
          <a:xfrm>
            <a:off x="6583680" y="42062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_94"/>
          <p:cNvSpPr txBox="1"/>
          <p:nvPr/>
        </p:nvSpPr>
        <p:spPr>
          <a:xfrm>
            <a:off x="68122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91C1C"/>
                </a:solidFill>
              </a:rPr>
              <a:t>Виявлено витік даних</a:t>
            </a:r>
            <a:endParaRPr lang="en-US" sz="1700" dirty="0"/>
          </a:p>
        </p:txBody>
      </p:sp>
      <p:sp>
        <p:nvSpPr>
          <p:cNvPr id="19" name="text_95"/>
          <p:cNvSpPr txBox="1"/>
          <p:nvPr/>
        </p:nvSpPr>
        <p:spPr>
          <a:xfrm>
            <a:off x="6812280" y="47548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99,7 % валідаційних кадрів мають сусідній кадр у train (ті самі відео). Тому val AP50 = 0,928, а на окремих тестових відео — 0,677. Об’єктивна оцінка — лише на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Попередня обробка та аугментація: зберегти геометрію пішохода</a:t>
            </a:r>
            <a:endParaRPr lang="en-US" sz="3000" dirty="0"/>
          </a:p>
        </p:txBody>
      </p:sp>
      <p:sp>
        <p:nvSpPr>
          <p:cNvPr id="3" name="card_96"/>
          <p:cNvSpPr/>
          <p:nvPr/>
        </p:nvSpPr>
        <p:spPr>
          <a:xfrm>
            <a:off x="548640" y="128016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badge_97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_98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_99"/>
          <p:cNvSpPr txBox="1"/>
          <p:nvPr/>
        </p:nvSpPr>
        <p:spPr>
          <a:xfrm>
            <a:off x="1325880" y="1463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Letterbox-масштабування</a:t>
            </a:r>
            <a:endParaRPr lang="en-US" sz="1700" dirty="0"/>
          </a:p>
        </p:txBody>
      </p:sp>
      <p:sp>
        <p:nvSpPr>
          <p:cNvPr id="7" name="text_100"/>
          <p:cNvSpPr txBox="1"/>
          <p:nvPr/>
        </p:nvSpPr>
        <p:spPr>
          <a:xfrm>
            <a:off x="777240" y="20574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 = min(Wₜ/W, Hₜ/H),  x′ = s·x + pₓ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Єдиний масштаб для обох осей + сірі смуги (114): пропорції людини (w/h ≈ 0,41) не спотворюються. Обернене перетворення x = (x′ − pₓ)/s повертає рамки в кадр.</a:t>
            </a:r>
            <a:endParaRPr lang="en-US" sz="1600" dirty="0"/>
          </a:p>
        </p:txBody>
      </p:sp>
      <p:sp>
        <p:nvSpPr>
          <p:cNvPr id="8" name="card_101"/>
          <p:cNvSpPr/>
          <p:nvPr/>
        </p:nvSpPr>
        <p:spPr>
          <a:xfrm>
            <a:off x="548640" y="3794760"/>
            <a:ext cx="54864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badge_102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_103"/>
          <p:cNvSpPr txBox="1"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_104"/>
          <p:cNvSpPr txBox="1"/>
          <p:nvPr/>
        </p:nvSpPr>
        <p:spPr>
          <a:xfrm>
            <a:off x="1325880" y="39776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Колір і стандартизація</a:t>
            </a:r>
            <a:endParaRPr lang="en-US" sz="1700" dirty="0"/>
          </a:p>
        </p:txBody>
      </p:sp>
      <p:sp>
        <p:nvSpPr>
          <p:cNvPr id="12" name="text_105"/>
          <p:cNvSpPr txBox="1"/>
          <p:nvPr/>
        </p:nvSpPr>
        <p:spPr>
          <a:xfrm>
            <a:off x="77724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BGR → RGB (OpenCV читає BGR), потім Î = (I/255 − μ)/σ зі статистикою ImageNet. Без цього втрачається вигода від попередньо навченого backbone.</a:t>
            </a:r>
            <a:endParaRPr lang="en-US" sz="1600" dirty="0"/>
          </a:p>
        </p:txBody>
      </p:sp>
      <p:sp>
        <p:nvSpPr>
          <p:cNvPr id="13" name="card_106"/>
          <p:cNvSpPr/>
          <p:nvPr/>
        </p:nvSpPr>
        <p:spPr>
          <a:xfrm>
            <a:off x="6309360" y="1280160"/>
            <a:ext cx="530352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badge_107"/>
          <p:cNvSpPr/>
          <p:nvPr/>
        </p:nvSpPr>
        <p:spPr>
          <a:xfrm>
            <a:off x="649224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_108"/>
          <p:cNvSpPr txBox="1"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_109"/>
          <p:cNvSpPr txBox="1"/>
          <p:nvPr/>
        </p:nvSpPr>
        <p:spPr>
          <a:xfrm>
            <a:off x="708660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Аугментація (власна, для PedNet)</a:t>
            </a:r>
            <a:endParaRPr lang="en-US" sz="1700" dirty="0"/>
          </a:p>
        </p:txBody>
      </p:sp>
      <p:sp>
        <p:nvSpPr>
          <p:cNvPr id="17" name="text_110"/>
          <p:cNvSpPr txBox="1"/>
          <p:nvPr/>
        </p:nvSpPr>
        <p:spPr>
          <a:xfrm>
            <a:off x="6537960" y="210312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Масштаб ×U(0,75; 1,35) з обрізанням — пішоходи різних розмірів і в різних місцях кадру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Рамку, від якої лишилося &lt; 40 % площі, видаляємо — фрагмент ноги не є пішоходом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Лише горизонтальне віддзеркалення (p = 0,5) — перевернутих людей у даних немає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HSV: насиченість і яскравість ×U(0,6; 1,4) — освітлення, погода, камера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YOLOv8n: mosaic, HSV, масштаб ±50 % (Ultralytics)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PedNet — власний anchor-free детектор центрів пішоходів</a:t>
            </a:r>
            <a:endParaRPr lang="en-US" sz="3000" dirty="0"/>
          </a:p>
        </p:txBody>
      </p:sp>
      <p:pic>
        <p:nvPicPr>
          <p:cNvPr id="3" name="image_111" descr="report/figures/pednet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766560" cy="3164353"/>
          </a:xfrm>
          <a:prstGeom prst="rect">
            <a:avLst/>
          </a:prstGeom>
        </p:spPr>
      </p:pic>
      <p:sp>
        <p:nvSpPr>
          <p:cNvPr id="4" name="card_112"/>
          <p:cNvSpPr/>
          <p:nvPr/>
        </p:nvSpPr>
        <p:spPr>
          <a:xfrm>
            <a:off x="7589520" y="12344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_113"/>
          <p:cNvSpPr txBox="1"/>
          <p:nvPr/>
        </p:nvSpPr>
        <p:spPr>
          <a:xfrm>
            <a:off x="7772400" y="1344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3,29 млн</a:t>
            </a:r>
            <a:endParaRPr lang="en-US" sz="2800" dirty="0"/>
          </a:p>
        </p:txBody>
      </p:sp>
      <p:sp>
        <p:nvSpPr>
          <p:cNvPr id="6" name="text_114"/>
          <p:cNvSpPr txBox="1"/>
          <p:nvPr/>
        </p:nvSpPr>
        <p:spPr>
          <a:xfrm>
            <a:off x="7772400" y="2039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параметрів (12,8 МБ)</a:t>
            </a:r>
            <a:endParaRPr lang="en-US" sz="1200" dirty="0"/>
          </a:p>
        </p:txBody>
      </p:sp>
      <p:sp>
        <p:nvSpPr>
          <p:cNvPr id="7" name="card_115"/>
          <p:cNvSpPr/>
          <p:nvPr/>
        </p:nvSpPr>
        <p:spPr>
          <a:xfrm>
            <a:off x="9692640" y="12344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_116"/>
          <p:cNvSpPr txBox="1"/>
          <p:nvPr/>
        </p:nvSpPr>
        <p:spPr>
          <a:xfrm>
            <a:off x="9875520" y="13441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крок 4</a:t>
            </a:r>
            <a:endParaRPr lang="en-US" sz="2800" dirty="0"/>
          </a:p>
        </p:txBody>
      </p:sp>
      <p:sp>
        <p:nvSpPr>
          <p:cNvPr id="9" name="text_117"/>
          <p:cNvSpPr txBox="1"/>
          <p:nvPr/>
        </p:nvSpPr>
        <p:spPr>
          <a:xfrm>
            <a:off x="9875520" y="20391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вихідна карта 120 × 160</a:t>
            </a:r>
            <a:endParaRPr lang="en-US" sz="1200" dirty="0"/>
          </a:p>
        </p:txBody>
      </p:sp>
      <p:sp>
        <p:nvSpPr>
          <p:cNvPr id="10" name="text_118"/>
          <p:cNvSpPr txBox="1"/>
          <p:nvPr/>
        </p:nvSpPr>
        <p:spPr>
          <a:xfrm>
            <a:off x="7589520" y="278892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Backbone MobileNetV3-Large (ImageNet): карти C2–C5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Власна FPN згори вниз на depthwise-separable згортках: у 8–9 разів дешевше за conv 3×3, лише 0,14 млн параметрів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Крок 4: пішохід 30–40 px займає 8–10 комірок, а не одну, як на кроці 32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Три голови: heatmap центрів, log(w), log(h), субпіксельний зсув</a:t>
            </a:r>
            <a:endParaRPr lang="en-US" sz="1400" dirty="0"/>
          </a:p>
        </p:txBody>
      </p:sp>
      <p:sp>
        <p:nvSpPr>
          <p:cNvPr id="11" name="text_119"/>
          <p:cNvSpPr txBox="1"/>
          <p:nvPr/>
        </p:nvSpPr>
        <p:spPr>
          <a:xfrm>
            <a:off x="548640" y="4572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Ідея CenterNet «Objects as Points»: об’єкт = точка центру + розмір, без якорів і їх налаштування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Еліптичні гаусові цілі: модифікація під форму людини</a:t>
            </a:r>
            <a:endParaRPr lang="en-US" sz="3000" dirty="0"/>
          </a:p>
        </p:txBody>
      </p:sp>
      <p:pic>
        <p:nvPicPr>
          <p:cNvPr id="3" name="image_120" descr="Кадр з розміткою та цільова теплова карта центрів (крок 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400800" cy="2451720"/>
          </a:xfrm>
          <a:prstGeom prst="rect">
            <a:avLst/>
          </a:prstGeom>
        </p:spPr>
      </p:pic>
      <p:sp>
        <p:nvSpPr>
          <p:cNvPr id="4" name="text_121"/>
          <p:cNvSpPr txBox="1"/>
          <p:nvPr/>
        </p:nvSpPr>
        <p:spPr>
          <a:xfrm>
            <a:off x="548640" y="3741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Кадр з розміткою та цільова теплова карта центрів (крок 4)</a:t>
            </a:r>
            <a:endParaRPr lang="en-US" sz="1100" dirty="0"/>
          </a:p>
        </p:txBody>
      </p:sp>
      <p:sp>
        <p:nvSpPr>
          <p:cNvPr id="5" name="card_122"/>
          <p:cNvSpPr/>
          <p:nvPr/>
        </p:nvSpPr>
        <p:spPr>
          <a:xfrm>
            <a:off x="548640" y="4114800"/>
            <a:ext cx="64008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_123"/>
          <p:cNvSpPr txBox="1"/>
          <p:nvPr/>
        </p:nvSpPr>
        <p:spPr>
          <a:xfrm>
            <a:off x="777240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Чому еліпс, а не коло</a:t>
            </a:r>
            <a:endParaRPr lang="en-US" sz="1700" dirty="0"/>
          </a:p>
        </p:txBody>
      </p:sp>
      <p:sp>
        <p:nvSpPr>
          <p:cNvPr id="7" name="text_124"/>
          <p:cNvSpPr txBox="1"/>
          <p:nvPr/>
        </p:nvSpPr>
        <p:spPr>
          <a:xfrm>
            <a:off x="777240" y="46634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Пішохід високий і вузький: зсув на 5 px убік знижує IoU сильніше, ніж той самий зсув по вертикалі. Тому горизонтальний радіус гаусіана зменшено: rₓ = r·√(w/h); у перекриттях — максимум, а не сума.</a:t>
            </a:r>
            <a:endParaRPr lang="en-US" sz="1500" dirty="0"/>
          </a:p>
        </p:txBody>
      </p:sp>
      <p:sp>
        <p:nvSpPr>
          <p:cNvPr id="8" name="card_125"/>
          <p:cNvSpPr/>
          <p:nvPr/>
        </p:nvSpPr>
        <p:spPr>
          <a:xfrm>
            <a:off x="7223760" y="1234440"/>
            <a:ext cx="43891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badge_126"/>
          <p:cNvSpPr/>
          <p:nvPr/>
        </p:nvSpPr>
        <p:spPr>
          <a:xfrm>
            <a:off x="740664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_127"/>
          <p:cNvSpPr txBox="1"/>
          <p:nvPr/>
        </p:nvSpPr>
        <p:spPr>
          <a:xfrm>
            <a:off x="7406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en-US" sz="1600" dirty="0"/>
          </a:p>
        </p:txBody>
      </p:sp>
      <p:sp>
        <p:nvSpPr>
          <p:cNvPr id="11" name="text_128"/>
          <p:cNvSpPr txBox="1"/>
          <p:nvPr/>
        </p:nvSpPr>
        <p:spPr>
          <a:xfrm>
            <a:off x="8001000" y="1417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Функція втрат</a:t>
            </a:r>
            <a:endParaRPr lang="en-US" sz="1700" dirty="0"/>
          </a:p>
        </p:txBody>
      </p:sp>
      <p:sp>
        <p:nvSpPr>
          <p:cNvPr id="12" name="text_129"/>
          <p:cNvSpPr txBox="1"/>
          <p:nvPr/>
        </p:nvSpPr>
        <p:spPr>
          <a:xfrm>
            <a:off x="7452360" y="201168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Теплова карта — focal loss (α = 2, β = 4): менший штраф поруч із центром і для легкого фону.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Розмір і зсув — L1 лише в центрах пішоходів. Ваги доданків — 1.</a:t>
            </a:r>
            <a:endParaRPr lang="en-US" sz="1500" dirty="0"/>
          </a:p>
        </p:txBody>
      </p:sp>
      <p:sp>
        <p:nvSpPr>
          <p:cNvPr id="13" name="card_130"/>
          <p:cNvSpPr/>
          <p:nvPr/>
        </p:nvSpPr>
        <p:spPr>
          <a:xfrm>
            <a:off x="7223760" y="3794760"/>
            <a:ext cx="43891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badge_131"/>
          <p:cNvSpPr/>
          <p:nvPr/>
        </p:nvSpPr>
        <p:spPr>
          <a:xfrm>
            <a:off x="7406640" y="3977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_132"/>
          <p:cNvSpPr txBox="1"/>
          <p:nvPr/>
        </p:nvSpPr>
        <p:spPr>
          <a:xfrm>
            <a:off x="7406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6" name="text_133"/>
          <p:cNvSpPr txBox="1"/>
          <p:nvPr/>
        </p:nvSpPr>
        <p:spPr>
          <a:xfrm>
            <a:off x="8001000" y="3977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Декодування</a:t>
            </a:r>
            <a:endParaRPr lang="en-US" sz="1700" dirty="0"/>
          </a:p>
        </p:txBody>
      </p:sp>
      <p:sp>
        <p:nvSpPr>
          <p:cNvPr id="17" name="text_134"/>
          <p:cNvSpPr txBox="1"/>
          <p:nvPr/>
        </p:nvSpPr>
        <p:spPr>
          <a:xfrm>
            <a:off x="7452360" y="457200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sigmoid → піки max-pool 3×3 → top-100 → центр + exp(розмір) × 4 → NMS → обернений letterbox. Поріг — точка максимуму F1 (0,23).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Порівняльна модель YOLOv8n і трекер SORT</a:t>
            </a:r>
            <a:endParaRPr lang="en-US" sz="3000" dirty="0"/>
          </a:p>
        </p:txBody>
      </p:sp>
      <p:graphicFrame>
        <p:nvGraphicFramePr>
          <p:cNvPr id="10" name="table_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852160" cy="282244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PedNet (власна)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YOLOv8n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Backbone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MobileNetV3 (ImageNet)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CSPDarknet + C2f, SPPF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Neck / вихід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FPN, одна карта, крок 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PAN-FPN, кроки 8 / 16 / 32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Регресія рамки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L1 на log(w), log(h)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DFL + CIoU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Попереднє навчання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лише backbone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увесь детектор (COCO)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Параметрів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3,29 млн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3,01 млн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_136"/>
          <p:cNvSpPr txBox="1"/>
          <p:nvPr/>
        </p:nvSpPr>
        <p:spPr>
          <a:xfrm>
            <a:off x="548640" y="4297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YOLOv8n донавчено на Caltech: 12 епох, AdamW, lr = 0,002, single_cls. Базова лінія — YOLOv8n COCO «з коробки».</a:t>
            </a:r>
            <a:endParaRPr lang="en-US" sz="1400" dirty="0"/>
          </a:p>
        </p:txBody>
      </p:sp>
      <p:sp>
        <p:nvSpPr>
          <p:cNvPr id="5" name="card_137"/>
          <p:cNvSpPr/>
          <p:nvPr/>
        </p:nvSpPr>
        <p:spPr>
          <a:xfrm>
            <a:off x="6675120" y="1280160"/>
            <a:ext cx="49377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_138"/>
          <p:cNvSpPr txBox="1"/>
          <p:nvPr/>
        </p:nvSpPr>
        <p:spPr>
          <a:xfrm>
            <a:off x="690372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SORT: tracking-by-detection</a:t>
            </a:r>
            <a:endParaRPr lang="en-US" sz="1700" dirty="0"/>
          </a:p>
        </p:txBody>
      </p:sp>
      <p:sp>
        <p:nvSpPr>
          <p:cNvPr id="7" name="badge_139"/>
          <p:cNvSpPr/>
          <p:nvPr/>
        </p:nvSpPr>
        <p:spPr>
          <a:xfrm>
            <a:off x="690372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_140"/>
          <p:cNvSpPr txBox="1"/>
          <p:nvPr/>
        </p:nvSpPr>
        <p:spPr>
          <a:xfrm>
            <a:off x="6903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_141"/>
          <p:cNvSpPr txBox="1"/>
          <p:nvPr/>
        </p:nvSpPr>
        <p:spPr>
          <a:xfrm>
            <a:off x="749808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Прогноз</a:t>
            </a:r>
            <a:endParaRPr lang="en-US" sz="1600" dirty="0"/>
          </a:p>
        </p:txBody>
      </p:sp>
      <p:sp>
        <p:nvSpPr>
          <p:cNvPr id="3" name="text_142"/>
          <p:cNvSpPr txBox="1"/>
          <p:nvPr/>
        </p:nvSpPr>
        <p:spPr>
          <a:xfrm>
            <a:off x="7498080" y="23134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Калман зі сталою швидкістю: центр, площа, пропорції + швидкості</a:t>
            </a:r>
            <a:endParaRPr lang="en-US" sz="1400" dirty="0"/>
          </a:p>
        </p:txBody>
      </p:sp>
      <p:sp>
        <p:nvSpPr>
          <p:cNvPr id="11" name="badge_143"/>
          <p:cNvSpPr/>
          <p:nvPr/>
        </p:nvSpPr>
        <p:spPr>
          <a:xfrm>
            <a:off x="6903720" y="3063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_144"/>
          <p:cNvSpPr txBox="1"/>
          <p:nvPr/>
        </p:nvSpPr>
        <p:spPr>
          <a:xfrm>
            <a:off x="6903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_145"/>
          <p:cNvSpPr txBox="1"/>
          <p:nvPr/>
        </p:nvSpPr>
        <p:spPr>
          <a:xfrm>
            <a:off x="74980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Зіставлення</a:t>
            </a:r>
            <a:endParaRPr lang="en-US" sz="1600" dirty="0"/>
          </a:p>
        </p:txBody>
      </p:sp>
      <p:sp>
        <p:nvSpPr>
          <p:cNvPr id="14" name="text_146"/>
          <p:cNvSpPr txBox="1"/>
          <p:nvPr/>
        </p:nvSpPr>
        <p:spPr>
          <a:xfrm>
            <a:off x="7498080" y="331927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угорський алгоритм за −IoU, IoU ≥ 0,3</a:t>
            </a:r>
            <a:endParaRPr lang="en-US" sz="1400" dirty="0"/>
          </a:p>
        </p:txBody>
      </p:sp>
      <p:sp>
        <p:nvSpPr>
          <p:cNvPr id="15" name="badge_147"/>
          <p:cNvSpPr/>
          <p:nvPr/>
        </p:nvSpPr>
        <p:spPr>
          <a:xfrm>
            <a:off x="6903720" y="40690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_148"/>
          <p:cNvSpPr txBox="1"/>
          <p:nvPr/>
        </p:nvSpPr>
        <p:spPr>
          <a:xfrm>
            <a:off x="69037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_149"/>
          <p:cNvSpPr txBox="1"/>
          <p:nvPr/>
        </p:nvSpPr>
        <p:spPr>
          <a:xfrm>
            <a:off x="749808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Оновлення</a:t>
            </a:r>
            <a:endParaRPr lang="en-US" sz="1600" dirty="0"/>
          </a:p>
        </p:txBody>
      </p:sp>
      <p:sp>
        <p:nvSpPr>
          <p:cNvPr id="18" name="text_150"/>
          <p:cNvSpPr txBox="1"/>
          <p:nvPr/>
        </p:nvSpPr>
        <p:spPr>
          <a:xfrm>
            <a:off x="7498080" y="43251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корекція Калмана; нові ID для решти</a:t>
            </a:r>
            <a:endParaRPr lang="en-US" sz="1400" dirty="0"/>
          </a:p>
        </p:txBody>
      </p:sp>
      <p:sp>
        <p:nvSpPr>
          <p:cNvPr id="19" name="badge_151"/>
          <p:cNvSpPr/>
          <p:nvPr/>
        </p:nvSpPr>
        <p:spPr>
          <a:xfrm>
            <a:off x="6903720" y="50749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_152"/>
          <p:cNvSpPr txBox="1"/>
          <p:nvPr/>
        </p:nvSpPr>
        <p:spPr>
          <a:xfrm>
            <a:off x="69037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_153"/>
          <p:cNvSpPr txBox="1"/>
          <p:nvPr/>
        </p:nvSpPr>
        <p:spPr>
          <a:xfrm>
            <a:off x="7498080" y="4983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Фільтр</a:t>
            </a:r>
            <a:endParaRPr lang="en-US" sz="1600" dirty="0"/>
          </a:p>
        </p:txBody>
      </p:sp>
      <p:sp>
        <p:nvSpPr>
          <p:cNvPr id="22" name="text_154"/>
          <p:cNvSpPr txBox="1"/>
          <p:nvPr/>
        </p:nvSpPr>
        <p:spPr>
          <a:xfrm>
            <a:off x="7498080" y="5330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max_age = 15, min_hits =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Методика оцінювання: єдиний протокол для всіх моделей</a:t>
            </a:r>
            <a:endParaRPr lang="en-US" sz="3000" dirty="0"/>
          </a:p>
        </p:txBody>
      </p:sp>
      <p:sp>
        <p:nvSpPr>
          <p:cNvPr id="3" name="card_155"/>
          <p:cNvSpPr/>
          <p:nvPr/>
        </p:nvSpPr>
        <p:spPr>
          <a:xfrm>
            <a:off x="548640" y="1325880"/>
            <a:ext cx="35387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_156"/>
          <p:cNvSpPr txBox="1"/>
          <p:nvPr/>
        </p:nvSpPr>
        <p:spPr>
          <a:xfrm>
            <a:off x="777240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AP50</a:t>
            </a:r>
            <a:endParaRPr lang="en-US" sz="2800" dirty="0"/>
          </a:p>
        </p:txBody>
      </p:sp>
      <p:sp>
        <p:nvSpPr>
          <p:cNvPr id="5" name="text_157"/>
          <p:cNvSpPr txBox="1"/>
          <p:nvPr/>
        </p:nvSpPr>
        <p:spPr>
          <a:xfrm>
            <a:off x="777240" y="21945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площа під кривою Precision–Recall при IoU ≥ 0,5 (101 точка, як у COCO)</a:t>
            </a:r>
            <a:endParaRPr lang="en-US" sz="1600" dirty="0"/>
          </a:p>
        </p:txBody>
      </p:sp>
      <p:sp>
        <p:nvSpPr>
          <p:cNvPr id="6" name="card_158"/>
          <p:cNvSpPr/>
          <p:nvPr/>
        </p:nvSpPr>
        <p:spPr>
          <a:xfrm>
            <a:off x="4270248" y="1325880"/>
            <a:ext cx="35387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_159"/>
          <p:cNvSpPr txBox="1"/>
          <p:nvPr/>
        </p:nvSpPr>
        <p:spPr>
          <a:xfrm>
            <a:off x="4498848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AP50-95</a:t>
            </a:r>
            <a:endParaRPr lang="en-US" sz="2800" dirty="0"/>
          </a:p>
        </p:txBody>
      </p:sp>
      <p:sp>
        <p:nvSpPr>
          <p:cNvPr id="8" name="text_160"/>
          <p:cNvSpPr txBox="1"/>
          <p:nvPr/>
        </p:nvSpPr>
        <p:spPr>
          <a:xfrm>
            <a:off x="4498848" y="21945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середнє AP за IoU 0,5…0,95 — чутлива до точності меж рамки</a:t>
            </a:r>
            <a:endParaRPr lang="en-US" sz="1600" dirty="0"/>
          </a:p>
        </p:txBody>
      </p:sp>
      <p:sp>
        <p:nvSpPr>
          <p:cNvPr id="9" name="card_161"/>
          <p:cNvSpPr/>
          <p:nvPr/>
        </p:nvSpPr>
        <p:spPr>
          <a:xfrm>
            <a:off x="7991856" y="1325880"/>
            <a:ext cx="35387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_162"/>
          <p:cNvSpPr txBox="1"/>
          <p:nvPr/>
        </p:nvSpPr>
        <p:spPr>
          <a:xfrm>
            <a:off x="8220456" y="1508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MR⁻²</a:t>
            </a:r>
            <a:endParaRPr lang="en-US" sz="2800" dirty="0"/>
          </a:p>
        </p:txBody>
      </p:sp>
      <p:sp>
        <p:nvSpPr>
          <p:cNvPr id="11" name="text_163"/>
          <p:cNvSpPr txBox="1"/>
          <p:nvPr/>
        </p:nvSpPr>
        <p:spPr>
          <a:xfrm>
            <a:off x="8220456" y="21945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log-average miss rate у 9 точках FPPI ∈ [10⁻²; 1] — стандарт Caltech, менше = краще</a:t>
            </a:r>
            <a:endParaRPr lang="en-US" sz="1600" dirty="0"/>
          </a:p>
        </p:txBody>
      </p:sp>
      <p:sp>
        <p:nvSpPr>
          <p:cNvPr id="12" name="card_164"/>
          <p:cNvSpPr/>
          <p:nvPr/>
        </p:nvSpPr>
        <p:spPr>
          <a:xfrm>
            <a:off x="548640" y="3749040"/>
            <a:ext cx="35387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_165"/>
          <p:cNvSpPr txBox="1"/>
          <p:nvPr/>
        </p:nvSpPr>
        <p:spPr>
          <a:xfrm>
            <a:off x="77724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h60</a:t>
            </a:r>
            <a:endParaRPr lang="en-US" sz="2800" dirty="0"/>
          </a:p>
        </p:txBody>
      </p:sp>
      <p:sp>
        <p:nvSpPr>
          <p:cNvPr id="14" name="text_166"/>
          <p:cNvSpPr txBox="1"/>
          <p:nvPr/>
        </p:nvSpPr>
        <p:spPr>
          <a:xfrm>
            <a:off x="777240" y="4617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незіставлені детекції &lt; 60 px не рахуються хибними: малі пішоходи не розмічені</a:t>
            </a:r>
            <a:endParaRPr lang="en-US" sz="1600" dirty="0"/>
          </a:p>
        </p:txBody>
      </p:sp>
      <p:sp>
        <p:nvSpPr>
          <p:cNvPr id="15" name="card_167"/>
          <p:cNvSpPr/>
          <p:nvPr/>
        </p:nvSpPr>
        <p:spPr>
          <a:xfrm>
            <a:off x="4270248" y="3749040"/>
            <a:ext cx="35387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_168"/>
          <p:cNvSpPr txBox="1"/>
          <p:nvPr/>
        </p:nvSpPr>
        <p:spPr>
          <a:xfrm>
            <a:off x="4498848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Швидкість</a:t>
            </a:r>
            <a:endParaRPr lang="en-US" sz="2800" dirty="0"/>
          </a:p>
        </p:txBody>
      </p:sp>
      <p:sp>
        <p:nvSpPr>
          <p:cNvPr id="17" name="text_169"/>
          <p:cNvSpPr txBox="1"/>
          <p:nvPr/>
        </p:nvSpPr>
        <p:spPr>
          <a:xfrm>
            <a:off x="4498848" y="4617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мс/кадр разом із пре- і постобробкою, Apple M1 (MPS), без 5 кадрів прогріву</a:t>
            </a:r>
            <a:endParaRPr lang="en-US" sz="1600" dirty="0"/>
          </a:p>
        </p:txBody>
      </p:sp>
      <p:sp>
        <p:nvSpPr>
          <p:cNvPr id="18" name="card_170"/>
          <p:cNvSpPr/>
          <p:nvPr/>
        </p:nvSpPr>
        <p:spPr>
          <a:xfrm>
            <a:off x="7991856" y="3749040"/>
            <a:ext cx="353872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_171"/>
          <p:cNvSpPr txBox="1"/>
          <p:nvPr/>
        </p:nvSpPr>
        <p:spPr>
          <a:xfrm>
            <a:off x="8220456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Трекінг</a:t>
            </a:r>
            <a:endParaRPr lang="en-US" sz="2800" dirty="0"/>
          </a:p>
        </p:txBody>
      </p:sp>
      <p:sp>
        <p:nvSpPr>
          <p:cNvPr id="20" name="text_172"/>
          <p:cNvSpPr txBox="1"/>
          <p:nvPr/>
        </p:nvSpPr>
        <p:spPr>
          <a:xfrm>
            <a:off x="8220456" y="4617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ID не розмічені → MOTA/IDF1 неможливі; рахуємо треки, їх довжину, FPS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Навчання PedNet: 15 епох, ≈ 3,9 год на Apple M1</a:t>
            </a:r>
            <a:endParaRPr lang="en-US" sz="3000" dirty="0"/>
          </a:p>
        </p:txBody>
      </p:sp>
      <p:graphicFrame>
        <p:nvGraphicFramePr>
          <p:cNvPr id="3" name="chart_173"/>
          <p:cNvGraphicFramePr/>
          <p:nvPr/>
        </p:nvGraphicFramePr>
        <p:xfrm>
          <a:off x="548640" y="123444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_174"/>
          <p:cNvSpPr/>
          <p:nvPr/>
        </p:nvSpPr>
        <p:spPr>
          <a:xfrm>
            <a:off x="7589520" y="123444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_175"/>
          <p:cNvSpPr txBox="1"/>
          <p:nvPr/>
        </p:nvSpPr>
        <p:spPr>
          <a:xfrm>
            <a:off x="7772400" y="13441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6,22 → 0,94</a:t>
            </a:r>
            <a:endParaRPr lang="en-US" sz="3600" dirty="0"/>
          </a:p>
        </p:txBody>
      </p:sp>
      <p:sp>
        <p:nvSpPr>
          <p:cNvPr id="6" name="text_176"/>
          <p:cNvSpPr txBox="1"/>
          <p:nvPr/>
        </p:nvSpPr>
        <p:spPr>
          <a:xfrm>
            <a:off x="7772400" y="2039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загальна втрата L (теплова карта 4,89 → 0,43)</a:t>
            </a:r>
            <a:endParaRPr lang="en-US" sz="1200" dirty="0"/>
          </a:p>
        </p:txBody>
      </p:sp>
      <p:sp>
        <p:nvSpPr>
          <p:cNvPr id="7" name="card_177"/>
          <p:cNvSpPr/>
          <p:nvPr/>
        </p:nvSpPr>
        <p:spPr>
          <a:xfrm>
            <a:off x="7589520" y="269748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_178"/>
          <p:cNvSpPr txBox="1"/>
          <p:nvPr/>
        </p:nvSpPr>
        <p:spPr>
          <a:xfrm>
            <a:off x="7772400" y="28072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0,686 → 0,928</a:t>
            </a:r>
            <a:endParaRPr lang="en-US" sz="3600" dirty="0"/>
          </a:p>
        </p:txBody>
      </p:sp>
      <p:sp>
        <p:nvSpPr>
          <p:cNvPr id="9" name="text_179"/>
          <p:cNvSpPr txBox="1"/>
          <p:nvPr/>
        </p:nvSpPr>
        <p:spPr>
          <a:xfrm>
            <a:off x="7772400" y="3502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AP50 на val; MR⁻² 55,2 % → 12,3 %</a:t>
            </a:r>
            <a:endParaRPr lang="en-US" sz="1200" dirty="0"/>
          </a:p>
        </p:txBody>
      </p:sp>
      <p:sp>
        <p:nvSpPr>
          <p:cNvPr id="10" name="card_180"/>
          <p:cNvSpPr/>
          <p:nvPr/>
        </p:nvSpPr>
        <p:spPr>
          <a:xfrm>
            <a:off x="7589520" y="4160520"/>
            <a:ext cx="40233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_181"/>
          <p:cNvSpPr txBox="1"/>
          <p:nvPr/>
        </p:nvSpPr>
        <p:spPr>
          <a:xfrm>
            <a:off x="7772400" y="42976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AdamW, lr 1,5·10⁻³ (backbone ×0,5), розігрів 500 іт. + косинус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Пакет 16, обрізання градієнта 10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Насичення після 12-ї епохи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Якість: PedNet на рівні донавченої YOLOv8n на Caltech</a:t>
            </a:r>
            <a:endParaRPr lang="en-US" sz="3000" dirty="0"/>
          </a:p>
        </p:txBody>
      </p:sp>
      <p:graphicFrame>
        <p:nvGraphicFramePr>
          <p:cNvPr id="3" name="chart_182"/>
          <p:cNvGraphicFramePr/>
          <p:nvPr/>
        </p:nvGraphicFramePr>
        <p:xfrm>
          <a:off x="548640" y="123444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_183"/>
          <p:cNvSpPr txBox="1"/>
          <p:nvPr/>
        </p:nvSpPr>
        <p:spPr>
          <a:xfrm>
            <a:off x="77724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Caltech test, IoU ≥ 0,5</a:t>
            </a:r>
            <a:endParaRPr lang="en-US" sz="1400" dirty="0"/>
          </a:p>
        </p:txBody>
      </p:sp>
      <p:graphicFrame>
        <p:nvGraphicFramePr>
          <p:cNvPr id="13" name="table_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600200"/>
          <a:ext cx="3840480" cy="20055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AP50-95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MR⁻², 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PedNet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0,790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0,653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0,357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47,8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YOLOv8n 12 еп.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0,783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0,656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0,382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46,6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YOLOv8n 5 еп.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0,768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0,686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0,390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46,9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YOLOv8n COCO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0,654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0,572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0,218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60,0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rd_185"/>
          <p:cNvSpPr/>
          <p:nvPr/>
        </p:nvSpPr>
        <p:spPr>
          <a:xfrm>
            <a:off x="7772400" y="3794760"/>
            <a:ext cx="38404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_186"/>
          <p:cNvSpPr txBox="1"/>
          <p:nvPr/>
        </p:nvSpPr>
        <p:spPr>
          <a:xfrm>
            <a:off x="7955280" y="393192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Донавчання на домені: AP50 +0,13…0,15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PedNet — найвища Precision (0,790), але гірші межі (AP50-95)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INRIA: картина протилежна — найкраща модель COCO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Криві якості та вплив протоколу оцінювання</a:t>
            </a:r>
            <a:endParaRPr lang="en-US" sz="3000" dirty="0"/>
          </a:p>
        </p:txBody>
      </p:sp>
      <p:pic>
        <p:nvPicPr>
          <p:cNvPr id="3" name="image_187" descr="Caltech: Precision–Recall та Miss rate–FPP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949440" cy="2653423"/>
          </a:xfrm>
          <a:prstGeom prst="rect">
            <a:avLst/>
          </a:prstGeom>
        </p:spPr>
      </p:pic>
      <p:sp>
        <p:nvSpPr>
          <p:cNvPr id="4" name="text_188"/>
          <p:cNvSpPr txBox="1"/>
          <p:nvPr/>
        </p:nvSpPr>
        <p:spPr>
          <a:xfrm>
            <a:off x="548640" y="3942727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Caltech: Precision–Recall та Miss rate–FPPI</a:t>
            </a:r>
            <a:endParaRPr lang="en-US" sz="1100" dirty="0"/>
          </a:p>
        </p:txBody>
      </p:sp>
      <p:pic>
        <p:nvPicPr>
          <p:cNvPr id="5" name="image_189" descr="INRIA: модель COCO (сіра) найкращ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5486400" cy="2094807"/>
          </a:xfrm>
          <a:prstGeom prst="rect">
            <a:avLst/>
          </a:prstGeom>
        </p:spPr>
      </p:pic>
      <p:sp>
        <p:nvSpPr>
          <p:cNvPr id="6" name="text_190"/>
          <p:cNvSpPr txBox="1"/>
          <p:nvPr/>
        </p:nvSpPr>
        <p:spPr>
          <a:xfrm>
            <a:off x="548640" y="608159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INRIA: модель COCO (сіра) найкраща</a:t>
            </a:r>
            <a:endParaRPr lang="en-US" sz="1100" dirty="0"/>
          </a:p>
        </p:txBody>
      </p:sp>
      <p:sp>
        <p:nvSpPr>
          <p:cNvPr id="7" name="card_191"/>
          <p:cNvSpPr/>
          <p:nvPr/>
        </p:nvSpPr>
        <p:spPr>
          <a:xfrm>
            <a:off x="7772400" y="1234440"/>
            <a:ext cx="3840480" cy="484632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_192"/>
          <p:cNvSpPr txBox="1"/>
          <p:nvPr/>
        </p:nvSpPr>
        <p:spPr>
          <a:xfrm>
            <a:off x="80010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Протокол h60</a:t>
            </a:r>
            <a:endParaRPr lang="en-US" sz="1800" dirty="0"/>
          </a:p>
        </p:txBody>
      </p:sp>
      <p:sp>
        <p:nvSpPr>
          <p:cNvPr id="9" name="text_193"/>
          <p:cNvSpPr txBox="1"/>
          <p:nvPr/>
        </p:nvSpPr>
        <p:spPr>
          <a:xfrm>
            <a:off x="8001000" y="18288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YOLOv8n COCO знаходить малих пішоходів, яких немає в розмітці. Якщо не рахувати їх хибними:</a:t>
            </a:r>
            <a:endParaRPr lang="en-US" sz="1400" dirty="0"/>
          </a:p>
        </p:txBody>
      </p:sp>
      <p:sp>
        <p:nvSpPr>
          <p:cNvPr id="10" name="card_194"/>
          <p:cNvSpPr/>
          <p:nvPr/>
        </p:nvSpPr>
        <p:spPr>
          <a:xfrm>
            <a:off x="8001000" y="2971800"/>
            <a:ext cx="33832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_195"/>
          <p:cNvSpPr txBox="1"/>
          <p:nvPr/>
        </p:nvSpPr>
        <p:spPr>
          <a:xfrm>
            <a:off x="8183880" y="308152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0,544 → 0,612</a:t>
            </a:r>
            <a:endParaRPr lang="en-US" sz="3600" dirty="0"/>
          </a:p>
        </p:txBody>
      </p:sp>
      <p:sp>
        <p:nvSpPr>
          <p:cNvPr id="12" name="text_196"/>
          <p:cNvSpPr txBox="1"/>
          <p:nvPr/>
        </p:nvSpPr>
        <p:spPr>
          <a:xfrm>
            <a:off x="8183880" y="3776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AP50 моделі COCO</a:t>
            </a:r>
            <a:endParaRPr lang="en-US" sz="1200" dirty="0"/>
          </a:p>
        </p:txBody>
      </p:sp>
      <p:sp>
        <p:nvSpPr>
          <p:cNvPr id="13" name="text_197"/>
          <p:cNvSpPr txBox="1"/>
          <p:nvPr/>
        </p:nvSpPr>
        <p:spPr>
          <a:xfrm>
            <a:off x="8001000" y="44805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 0,654 → 0,778; у моделей, навчених на Caltech, змін немає. Протокол оцінювання — частина конвеєра.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Швидкодія та трекінг: реальний час на Apple M1</a:t>
            </a:r>
            <a:endParaRPr lang="en-US" sz="3000" dirty="0"/>
          </a:p>
        </p:txBody>
      </p:sp>
      <p:graphicFrame>
        <p:nvGraphicFramePr>
          <p:cNvPr id="3" name="chart_198"/>
          <p:cNvGraphicFramePr/>
          <p:nvPr/>
        </p:nvGraphicFramePr>
        <p:xfrm>
          <a:off x="548640" y="123444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_199"/>
          <p:cNvSpPr/>
          <p:nvPr/>
        </p:nvSpPr>
        <p:spPr>
          <a:xfrm>
            <a:off x="548640" y="416052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_200"/>
          <p:cNvSpPr txBox="1"/>
          <p:nvPr/>
        </p:nvSpPr>
        <p:spPr>
          <a:xfrm>
            <a:off x="777240" y="429768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PedNet повільніша не через мережу (3,29 vs 3,01 млн параметрів), а через letterbox, нормалізацію та NMS на CPU і карту 120 × 160. Ultralytics має оптимізований конвеєр.</a:t>
            </a:r>
            <a:endParaRPr lang="en-US" sz="1400" dirty="0"/>
          </a:p>
        </p:txBody>
      </p:sp>
      <p:pic>
        <p:nvPicPr>
          <p:cNvPr id="6" name="image_201" descr="PedNet + SORT, Caltech set07_V011: ID і траєкторі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394960" cy="1443484"/>
          </a:xfrm>
          <a:prstGeom prst="rect">
            <a:avLst/>
          </a:prstGeom>
        </p:spPr>
      </p:pic>
      <p:sp>
        <p:nvSpPr>
          <p:cNvPr id="7" name="text_202"/>
          <p:cNvSpPr txBox="1"/>
          <p:nvPr/>
        </p:nvSpPr>
        <p:spPr>
          <a:xfrm>
            <a:off x="6217920" y="27327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PedNet + SORT, Caltech set07_V011: ID і траєкторії</a:t>
            </a:r>
            <a:endParaRPr lang="en-US" sz="1100" dirty="0"/>
          </a:p>
        </p:txBody>
      </p:sp>
      <p:sp>
        <p:nvSpPr>
          <p:cNvPr id="8" name="card_203"/>
          <p:cNvSpPr/>
          <p:nvPr/>
        </p:nvSpPr>
        <p:spPr>
          <a:xfrm>
            <a:off x="621792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_204"/>
          <p:cNvSpPr txBox="1"/>
          <p:nvPr/>
        </p:nvSpPr>
        <p:spPr>
          <a:xfrm>
            <a:off x="6400800" y="31729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&lt; 1 мс</a:t>
            </a:r>
            <a:endParaRPr lang="en-US" sz="2800" dirty="0"/>
          </a:p>
        </p:txBody>
      </p:sp>
      <p:sp>
        <p:nvSpPr>
          <p:cNvPr id="10" name="text_205"/>
          <p:cNvSpPr txBox="1"/>
          <p:nvPr/>
        </p:nvSpPr>
        <p:spPr>
          <a:xfrm>
            <a:off x="6400800" y="38679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SORT на кадр</a:t>
            </a:r>
            <a:endParaRPr lang="en-US" sz="1200" dirty="0"/>
          </a:p>
        </p:txBody>
      </p:sp>
      <p:sp>
        <p:nvSpPr>
          <p:cNvPr id="11" name="card_206"/>
          <p:cNvSpPr/>
          <p:nvPr/>
        </p:nvSpPr>
        <p:spPr>
          <a:xfrm>
            <a:off x="806958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_207"/>
          <p:cNvSpPr txBox="1"/>
          <p:nvPr/>
        </p:nvSpPr>
        <p:spPr>
          <a:xfrm>
            <a:off x="8252460" y="31729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96,7</a:t>
            </a:r>
            <a:endParaRPr lang="en-US" sz="2800" dirty="0"/>
          </a:p>
        </p:txBody>
      </p:sp>
      <p:sp>
        <p:nvSpPr>
          <p:cNvPr id="13" name="text_208"/>
          <p:cNvSpPr txBox="1"/>
          <p:nvPr/>
        </p:nvSpPr>
        <p:spPr>
          <a:xfrm>
            <a:off x="8252460" y="38679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сер. довжина треку PedNet, кадрів</a:t>
            </a:r>
            <a:endParaRPr lang="en-US" sz="1200" dirty="0"/>
          </a:p>
        </p:txBody>
      </p:sp>
      <p:sp>
        <p:nvSpPr>
          <p:cNvPr id="14" name="card_209"/>
          <p:cNvSpPr/>
          <p:nvPr/>
        </p:nvSpPr>
        <p:spPr>
          <a:xfrm>
            <a:off x="9921240" y="3063240"/>
            <a:ext cx="1691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_210"/>
          <p:cNvSpPr txBox="1"/>
          <p:nvPr/>
        </p:nvSpPr>
        <p:spPr>
          <a:xfrm>
            <a:off x="10104120" y="31729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77,0</a:t>
            </a:r>
            <a:endParaRPr lang="en-US" sz="2800" dirty="0"/>
          </a:p>
        </p:txBody>
      </p:sp>
      <p:sp>
        <p:nvSpPr>
          <p:cNvPr id="16" name="text_211"/>
          <p:cNvSpPr txBox="1"/>
          <p:nvPr/>
        </p:nvSpPr>
        <p:spPr>
          <a:xfrm>
            <a:off x="10104120" y="38679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те саме для YOLOv8n</a:t>
            </a:r>
            <a:endParaRPr lang="en-US" sz="1200" dirty="0"/>
          </a:p>
        </p:txBody>
      </p:sp>
      <p:sp>
        <p:nvSpPr>
          <p:cNvPr id="17" name="card_212"/>
          <p:cNvSpPr/>
          <p:nvPr/>
        </p:nvSpPr>
        <p:spPr>
          <a:xfrm>
            <a:off x="6217920" y="4572000"/>
            <a:ext cx="53949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_213"/>
          <p:cNvSpPr txBox="1"/>
          <p:nvPr/>
        </p:nvSpPr>
        <p:spPr>
          <a:xfrm>
            <a:off x="6446520" y="4681728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 тестових послідовностей, 1 617 кадрів: 31 трек (PedNet) і 28 (YOLOv8n); 24 і 50 кадрів/с. Вища Precision PedNet → менше короткоживучих хибних треків.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Що визначає якість і швидкодію детекції пішоходів</a:t>
            </a:r>
            <a:endParaRPr lang="en-US" sz="3000" dirty="0"/>
          </a:p>
        </p:txBody>
      </p:sp>
      <p:sp>
        <p:nvSpPr>
          <p:cNvPr id="3" name="card_214"/>
          <p:cNvSpPr/>
          <p:nvPr/>
        </p:nvSpPr>
        <p:spPr>
          <a:xfrm>
            <a:off x="548640" y="12801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badge_215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_216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_217"/>
          <p:cNvSpPr txBox="1"/>
          <p:nvPr/>
        </p:nvSpPr>
        <p:spPr>
          <a:xfrm>
            <a:off x="141732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Домен даних</a:t>
            </a:r>
            <a:endParaRPr lang="en-US" sz="1800" dirty="0"/>
          </a:p>
        </p:txBody>
      </p:sp>
      <p:sp>
        <p:nvSpPr>
          <p:cNvPr id="7" name="text_218"/>
          <p:cNvSpPr txBox="1"/>
          <p:nvPr/>
        </p:nvSpPr>
        <p:spPr>
          <a:xfrm>
            <a:off x="1417320" y="1965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Адаптація до цільового домену — найсильніший чинник: AP50 0,544 → 0,677…0,690</a:t>
            </a:r>
            <a:endParaRPr lang="en-US" sz="1500" dirty="0"/>
          </a:p>
        </p:txBody>
      </p:sp>
      <p:sp>
        <p:nvSpPr>
          <p:cNvPr id="8" name="card_219"/>
          <p:cNvSpPr/>
          <p:nvPr/>
        </p:nvSpPr>
        <p:spPr>
          <a:xfrm>
            <a:off x="6172200" y="128016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badge_220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_221"/>
          <p:cNvSpPr txBox="1"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_222"/>
          <p:cNvSpPr txBox="1"/>
          <p:nvPr/>
        </p:nvSpPr>
        <p:spPr>
          <a:xfrm>
            <a:off x="704088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Цільові карти</a:t>
            </a:r>
            <a:endParaRPr lang="en-US" sz="1800" dirty="0"/>
          </a:p>
        </p:txBody>
      </p:sp>
      <p:sp>
        <p:nvSpPr>
          <p:cNvPr id="12" name="text_223"/>
          <p:cNvSpPr txBox="1"/>
          <p:nvPr/>
        </p:nvSpPr>
        <p:spPr>
          <a:xfrm>
            <a:off x="7040880" y="1965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Крок 4 та еліптичні гаусіани дають легкій PedNet рівень YOLOv8n при 3,3 млн параметрів</a:t>
            </a:r>
            <a:endParaRPr lang="en-US" sz="1500" dirty="0"/>
          </a:p>
        </p:txBody>
      </p:sp>
      <p:sp>
        <p:nvSpPr>
          <p:cNvPr id="13" name="card_224"/>
          <p:cNvSpPr/>
          <p:nvPr/>
        </p:nvSpPr>
        <p:spPr>
          <a:xfrm>
            <a:off x="548640" y="29260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badge_225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_226"/>
          <p:cNvSpPr txBox="1"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_227"/>
          <p:cNvSpPr txBox="1"/>
          <p:nvPr/>
        </p:nvSpPr>
        <p:spPr>
          <a:xfrm>
            <a:off x="141732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Регресія меж</a:t>
            </a:r>
            <a:endParaRPr lang="en-US" sz="1800" dirty="0"/>
          </a:p>
        </p:txBody>
      </p:sp>
      <p:sp>
        <p:nvSpPr>
          <p:cNvPr id="17" name="text_228"/>
          <p:cNvSpPr txBox="1"/>
          <p:nvPr/>
        </p:nvSpPr>
        <p:spPr>
          <a:xfrm>
            <a:off x="1417320" y="3611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L1 на log-розмірах поступається DFL + CIoU за точністю меж: AP50-95 0,357 vs 0,382</a:t>
            </a:r>
            <a:endParaRPr lang="en-US" sz="1500" dirty="0"/>
          </a:p>
        </p:txBody>
      </p:sp>
      <p:sp>
        <p:nvSpPr>
          <p:cNvPr id="18" name="card_229"/>
          <p:cNvSpPr/>
          <p:nvPr/>
        </p:nvSpPr>
        <p:spPr>
          <a:xfrm>
            <a:off x="6172200" y="29260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badge_230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_231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_232"/>
          <p:cNvSpPr txBox="1"/>
          <p:nvPr/>
        </p:nvSpPr>
        <p:spPr>
          <a:xfrm>
            <a:off x="704088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Узагальнення</a:t>
            </a:r>
            <a:endParaRPr lang="en-US" sz="1800" dirty="0"/>
          </a:p>
        </p:txBody>
      </p:sp>
      <p:sp>
        <p:nvSpPr>
          <p:cNvPr id="22" name="text_233"/>
          <p:cNvSpPr txBox="1"/>
          <p:nvPr/>
        </p:nvSpPr>
        <p:spPr>
          <a:xfrm>
            <a:off x="7040880" y="3611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Вузька спеціалізація шкодить на іншому домені: INRIA 0,322 vs 0,948</a:t>
            </a:r>
            <a:endParaRPr lang="en-US" sz="1500" dirty="0"/>
          </a:p>
        </p:txBody>
      </p:sp>
      <p:sp>
        <p:nvSpPr>
          <p:cNvPr id="23" name="card_234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badge_235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_236"/>
          <p:cNvSpPr txBox="1"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_237"/>
          <p:cNvSpPr txBox="1"/>
          <p:nvPr/>
        </p:nvSpPr>
        <p:spPr>
          <a:xfrm>
            <a:off x="1417320" y="4773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Пре- і постобробка</a:t>
            </a:r>
            <a:endParaRPr lang="en-US" sz="1800" dirty="0"/>
          </a:p>
        </p:txBody>
      </p:sp>
      <p:sp>
        <p:nvSpPr>
          <p:cNvPr id="27" name="text_238"/>
          <p:cNvSpPr txBox="1"/>
          <p:nvPr/>
        </p:nvSpPr>
        <p:spPr>
          <a:xfrm>
            <a:off x="1417320" y="5257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Визначають швидкодію не менше, ніж мережа: 24 vs 40 кадрів/с</a:t>
            </a:r>
            <a:endParaRPr lang="en-US" sz="1500" dirty="0"/>
          </a:p>
        </p:txBody>
      </p:sp>
      <p:sp>
        <p:nvSpPr>
          <p:cNvPr id="28" name="card_239"/>
          <p:cNvSpPr/>
          <p:nvPr/>
        </p:nvSpPr>
        <p:spPr>
          <a:xfrm>
            <a:off x="6172200" y="45720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badge_240"/>
          <p:cNvSpPr/>
          <p:nvPr/>
        </p:nvSpPr>
        <p:spPr>
          <a:xfrm>
            <a:off x="6400800" y="4800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_241"/>
          <p:cNvSpPr txBox="1"/>
          <p:nvPr/>
        </p:nvSpPr>
        <p:spPr>
          <a:xfrm>
            <a:off x="64008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_242"/>
          <p:cNvSpPr txBox="1"/>
          <p:nvPr/>
        </p:nvSpPr>
        <p:spPr>
          <a:xfrm>
            <a:off x="7040880" y="4773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Дані та протокол</a:t>
            </a:r>
            <a:endParaRPr lang="en-US" sz="1800" dirty="0"/>
          </a:p>
        </p:txBody>
      </p:sp>
      <p:sp>
        <p:nvSpPr>
          <p:cNvPr id="32" name="text_243"/>
          <p:cNvSpPr txBox="1"/>
          <p:nvPr/>
        </p:nvSpPr>
        <p:spPr>
          <a:xfrm>
            <a:off x="7040880" y="5257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Витік даних завищує AP50 на 0,25; протокол h60 змінює оцінку моделі COCO на +0,07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Подальші дослідження та особистий внесок</a:t>
            </a:r>
            <a:endParaRPr lang="en-US" sz="3000" dirty="0"/>
          </a:p>
        </p:txBody>
      </p:sp>
      <p:sp>
        <p:nvSpPr>
          <p:cNvPr id="3" name="card_244"/>
          <p:cNvSpPr/>
          <p:nvPr/>
        </p:nvSpPr>
        <p:spPr>
          <a:xfrm>
            <a:off x="548640" y="1280160"/>
            <a:ext cx="548640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_245"/>
          <p:cNvSpPr txBox="1"/>
          <p:nvPr/>
        </p:nvSpPr>
        <p:spPr>
          <a:xfrm>
            <a:off x="77724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Напрями подальших досліджень</a:t>
            </a:r>
            <a:endParaRPr lang="en-US" sz="1800" dirty="0"/>
          </a:p>
        </p:txBody>
      </p:sp>
      <p:sp>
        <p:nvSpPr>
          <p:cNvPr id="5" name="text_246"/>
          <p:cNvSpPr txBox="1"/>
          <p:nvPr/>
        </p:nvSpPr>
        <p:spPr>
          <a:xfrm>
            <a:off x="777240" y="19202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Кілька наборів даних (CityPersons, EuroCity Persons, KITTI) і доменна адаптація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IoU-орієнтована втрата (GIoU / CIoU) для точніших меж у PedNet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Пре- і постобробка на GPU, квантування, дистиляція для Edge AI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Валідація на окремих відео; DeepSORT / ByteTrack і розмітка ID для MOTA, IDF1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 / Grounding DINO для розмічування малих і перекритих пішоходів</a:t>
            </a:r>
            <a:endParaRPr lang="en-US" sz="1400" dirty="0"/>
          </a:p>
        </p:txBody>
      </p:sp>
      <p:sp>
        <p:nvSpPr>
          <p:cNvPr id="6" name="card_247"/>
          <p:cNvSpPr/>
          <p:nvPr/>
        </p:nvSpPr>
        <p:spPr>
          <a:xfrm>
            <a:off x="6309360" y="128016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_248"/>
          <p:cNvSpPr txBox="1"/>
          <p:nvPr/>
        </p:nvSpPr>
        <p:spPr>
          <a:xfrm>
            <a:off x="653796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Особистий внесок автора</a:t>
            </a:r>
            <a:endParaRPr lang="en-US" sz="1800" dirty="0"/>
          </a:p>
        </p:txBody>
      </p:sp>
      <p:sp>
        <p:nvSpPr>
          <p:cNvPr id="8" name="text_249"/>
          <p:cNvSpPr txBox="1"/>
          <p:nvPr/>
        </p:nvSpPr>
        <p:spPr>
          <a:xfrm>
            <a:off x="65379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Архітектура PedNet, еліптичні цільові карти, втрата, декодування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Попередня обробка, аугментації, власний цикл навчання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Трекер SORT, модуль метрик (AP, MR⁻², h60), єдиний інтерфейс детекторів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Донавчання YOLOv8n, усі експерименти та їх аналіз; виявлення витоку даних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Веб-платформа на Streamlit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2"/>
                </a:solidFill>
              </a:rPr>
              <a:t>Дякую за увагу!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chemeClr val="accent2"/>
                </a:solidFill>
              </a:rPr>
              <a:t>Готовий відповісти на запитання</a:t>
            </a:r>
            <a:endParaRPr lang="en-US" sz="4000" dirty="0"/>
          </a:p>
        </p:txBody>
      </p:sp>
      <p:sp>
        <p:nvSpPr>
          <p:cNvPr id="3" name="card_250"/>
          <p:cNvSpPr/>
          <p:nvPr/>
        </p:nvSpPr>
        <p:spPr>
          <a:xfrm>
            <a:off x="640080" y="42976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_251"/>
          <p:cNvSpPr txBox="1"/>
          <p:nvPr/>
        </p:nvSpPr>
        <p:spPr>
          <a:xfrm>
            <a:off x="82296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0,677</a:t>
            </a:r>
            <a:endParaRPr lang="en-US" sz="3200" dirty="0"/>
          </a:p>
        </p:txBody>
      </p:sp>
      <p:sp>
        <p:nvSpPr>
          <p:cNvPr id="5" name="text_252"/>
          <p:cNvSpPr txBox="1"/>
          <p:nvPr/>
        </p:nvSpPr>
        <p:spPr>
          <a:xfrm>
            <a:off x="82296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AP50 PedNet, Caltech</a:t>
            </a:r>
            <a:endParaRPr lang="en-US" sz="1300" dirty="0"/>
          </a:p>
        </p:txBody>
      </p:sp>
      <p:sp>
        <p:nvSpPr>
          <p:cNvPr id="6" name="card_253"/>
          <p:cNvSpPr/>
          <p:nvPr/>
        </p:nvSpPr>
        <p:spPr>
          <a:xfrm>
            <a:off x="3383280" y="42976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_254"/>
          <p:cNvSpPr txBox="1"/>
          <p:nvPr/>
        </p:nvSpPr>
        <p:spPr>
          <a:xfrm>
            <a:off x="356616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24–40</a:t>
            </a:r>
            <a:endParaRPr lang="en-US" sz="3200" dirty="0"/>
          </a:p>
        </p:txBody>
      </p:sp>
      <p:sp>
        <p:nvSpPr>
          <p:cNvPr id="8" name="text_255"/>
          <p:cNvSpPr txBox="1"/>
          <p:nvPr/>
        </p:nvSpPr>
        <p:spPr>
          <a:xfrm>
            <a:off x="356616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кадрів/с на Apple M1</a:t>
            </a:r>
            <a:endParaRPr lang="en-US" sz="1300" dirty="0"/>
          </a:p>
        </p:txBody>
      </p:sp>
      <p:sp>
        <p:nvSpPr>
          <p:cNvPr id="9" name="card_256"/>
          <p:cNvSpPr/>
          <p:nvPr/>
        </p:nvSpPr>
        <p:spPr>
          <a:xfrm>
            <a:off x="6126480" y="42976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_257"/>
          <p:cNvSpPr txBox="1"/>
          <p:nvPr/>
        </p:nvSpPr>
        <p:spPr>
          <a:xfrm>
            <a:off x="630936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4</a:t>
            </a:r>
            <a:endParaRPr lang="en-US" sz="3200" dirty="0"/>
          </a:p>
        </p:txBody>
      </p:sp>
      <p:sp>
        <p:nvSpPr>
          <p:cNvPr id="11" name="text_258"/>
          <p:cNvSpPr txBox="1"/>
          <p:nvPr/>
        </p:nvSpPr>
        <p:spPr>
          <a:xfrm>
            <a:off x="630936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моделі в порівнянні</a:t>
            </a:r>
            <a:endParaRPr lang="en-US" sz="1300" dirty="0"/>
          </a:p>
        </p:txBody>
      </p:sp>
      <p:sp>
        <p:nvSpPr>
          <p:cNvPr id="12" name="card_259"/>
          <p:cNvSpPr/>
          <p:nvPr/>
        </p:nvSpPr>
        <p:spPr>
          <a:xfrm>
            <a:off x="8869680" y="4297680"/>
            <a:ext cx="25146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_260"/>
          <p:cNvSpPr txBox="1"/>
          <p:nvPr/>
        </p:nvSpPr>
        <p:spPr>
          <a:xfrm>
            <a:off x="9052560" y="4434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51</a:t>
            </a:r>
            <a:endParaRPr lang="en-US" sz="3200" dirty="0"/>
          </a:p>
        </p:txBody>
      </p:sp>
      <p:sp>
        <p:nvSpPr>
          <p:cNvPr id="14" name="text_261"/>
          <p:cNvSpPr txBox="1"/>
          <p:nvPr/>
        </p:nvSpPr>
        <p:spPr>
          <a:xfrm>
            <a:off x="9052560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джерело у звіті</a:t>
            </a:r>
            <a:endParaRPr lang="en-US" sz="1300" dirty="0"/>
          </a:p>
        </p:txBody>
      </p:sp>
      <p:sp>
        <p:nvSpPr>
          <p:cNvPr id="15" name="text_262"/>
          <p:cNvSpPr txBox="1"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Ходаков Максим Олегович · ОНП «Штучний інтелект» · КНУ імені Тараса Шевченка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dVision">
  <a:themeElements>
    <a:clrScheme name="PedVision">
      <a:dk1>
        <a:srgbClr val="0F172A"/>
      </a:dk1>
      <a:lt1>
        <a:srgbClr val="FFFFFF"/>
      </a:lt1>
      <a:dk2>
        <a:srgbClr val="13224A"/>
      </a:dk2>
      <a:lt2>
        <a:srgbClr val="EEF2F8"/>
      </a:lt2>
      <a:accent1>
        <a:srgbClr val="2563EB"/>
      </a:accent1>
      <a:accent2>
        <a:srgbClr val="0D9488"/>
      </a:accent2>
      <a:accent3>
        <a:srgbClr val="EA580C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PedVis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2101</Words>
  <Application>Microsoft Macintosh PowerPoint</Application>
  <PresentationFormat>Widescreen</PresentationFormat>
  <Paragraphs>297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PedVision</vt:lpstr>
      <vt:lpstr>Методи обробки зображень у системах глибокого навчання  на прикладі задачі детекції пішоходів</vt:lpstr>
      <vt:lpstr>Зміст</vt:lpstr>
      <vt:lpstr>Задача: знайти й відстежити кожного пішохода в кадрі</vt:lpstr>
      <vt:lpstr>Конвеєр PedVision: обробка зображень на кожному етапі</vt:lpstr>
      <vt:lpstr>Дані: Caltech Pedestrian та незалежний тест INRIA</vt:lpstr>
      <vt:lpstr>Попередня обробка та аугментація: зберегти геометрію пішохода</vt:lpstr>
      <vt:lpstr>PedNet — власний anchor-free детектор центрів пішоходів</vt:lpstr>
      <vt:lpstr>Еліптичні гаусові цілі: модифікація під форму людини</vt:lpstr>
      <vt:lpstr>Порівняльна модель YOLOv8n і трекер SORT</vt:lpstr>
      <vt:lpstr>Методика оцінювання: єдиний протокол для всіх моделей</vt:lpstr>
      <vt:lpstr>Навчання PedNet: 15 епох, ≈ 3,9 год на Apple M1</vt:lpstr>
      <vt:lpstr>Якість: PedNet на рівні донавченої YOLOv8n на Caltech</vt:lpstr>
      <vt:lpstr>Криві якості та вплив протоколу оцінювання</vt:lpstr>
      <vt:lpstr>Швидкодія та трекінг: реальний час на Apple M1</vt:lpstr>
      <vt:lpstr>Що визначає якість і швидкодію детекції пішоходів</vt:lpstr>
      <vt:lpstr>Подальші дослідження та особистий внесок</vt:lpstr>
      <vt:lpstr>Дякую за увагу! Готовий відповісти на запитання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Методи обробки зображень у системах глибокого навчання на прикладі задачі детекції пішоходів</dc:title>
  <dc:subject>PptxGenJS Presentation</dc:subject>
  <dc:creator>Ходаков Максим Олегович</dc:creator>
  <cp:lastModifiedBy>Maksym Khodakov</cp:lastModifiedBy>
  <cp:revision>1</cp:revision>
  <dcterms:created xsi:type="dcterms:W3CDTF">2026-10-31T09:09:56Z</dcterms:created>
  <dcterms:modified xsi:type="dcterms:W3CDTF">2026-10-31T09:25:58Z</dcterms:modified>
</cp:coreProperties>
</file>